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handoutMasterIdLst>
    <p:handoutMasterId r:id="rId27"/>
  </p:handoutMasterIdLst>
  <p:sldIdLst>
    <p:sldId id="256" r:id="rId2"/>
    <p:sldId id="327" r:id="rId3"/>
    <p:sldId id="257" r:id="rId4"/>
    <p:sldId id="301" r:id="rId5"/>
    <p:sldId id="259" r:id="rId6"/>
    <p:sldId id="341" r:id="rId7"/>
    <p:sldId id="313" r:id="rId8"/>
    <p:sldId id="333" r:id="rId9"/>
    <p:sldId id="317" r:id="rId10"/>
    <p:sldId id="336" r:id="rId11"/>
    <p:sldId id="316" r:id="rId12"/>
    <p:sldId id="342" r:id="rId13"/>
    <p:sldId id="324" r:id="rId14"/>
    <p:sldId id="344" r:id="rId15"/>
    <p:sldId id="345" r:id="rId16"/>
    <p:sldId id="329" r:id="rId17"/>
    <p:sldId id="319" r:id="rId18"/>
    <p:sldId id="320" r:id="rId19"/>
    <p:sldId id="293" r:id="rId20"/>
    <p:sldId id="296" r:id="rId21"/>
    <p:sldId id="297" r:id="rId22"/>
    <p:sldId id="346" r:id="rId23"/>
    <p:sldId id="331" r:id="rId24"/>
    <p:sldId id="27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 xubo" initials="lx" lastIdx="1" clrIdx="0">
    <p:extLst>
      <p:ext uri="{19B8F6BF-5375-455C-9EA6-DF929625EA0E}">
        <p15:presenceInfo xmlns:p15="http://schemas.microsoft.com/office/powerpoint/2012/main" userId="0fd242c94742aa5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46A"/>
    <a:srgbClr val="4472C4"/>
    <a:srgbClr val="DAE3F3"/>
    <a:srgbClr val="E1CCF0"/>
    <a:srgbClr val="A9D18E"/>
    <a:srgbClr val="FFDDDD"/>
    <a:srgbClr val="FFB7B7"/>
    <a:srgbClr val="FFC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38" autoAdjust="0"/>
    <p:restoredTop sz="76528" autoAdjust="0"/>
  </p:normalViewPr>
  <p:slideViewPr>
    <p:cSldViewPr snapToGrid="0">
      <p:cViewPr varScale="1">
        <p:scale>
          <a:sx n="108" d="100"/>
          <a:sy n="108" d="100"/>
        </p:scale>
        <p:origin x="1760" y="192"/>
      </p:cViewPr>
      <p:guideLst/>
    </p:cSldViewPr>
  </p:slideViewPr>
  <p:notesTextViewPr>
    <p:cViewPr>
      <p:scale>
        <a:sx n="130" d="100"/>
        <a:sy n="130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D105454D-7BAD-473F-9BB5-3C7CF3BC55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B5ECFA7-D922-45E6-A489-28CE5E3F26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BAEF89-A034-4504-825F-67C3A81A50CE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ED6B25-9DEF-454E-ACC6-95A5D31C2EB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43C307E-5933-4665-B2F4-1191E95C00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DECA13-EB57-461A-94CB-6188E02EAB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4327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6BDA65-1320-4AFD-A0B4-0F2E0CC76265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075ADC-87E7-4941-AEEB-CB8BA3A3C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427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050" dirty="0">
                <a:latin typeface="Arial" panose="020B0604020202020204" pitchFamily="34" charset="0"/>
                <a:cs typeface="Arial" panose="020B0604020202020204" pitchFamily="34" charset="0"/>
              </a:rPr>
              <a:t>Hello everyone, I’m Xubo Li from Huazhong University of Science and Technology.</a:t>
            </a:r>
          </a:p>
          <a:p>
            <a:endParaRPr lang="en-US" altLang="zh-CN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050" dirty="0">
                <a:latin typeface="Arial" panose="020B0604020202020204" pitchFamily="34" charset="0"/>
                <a:cs typeface="Arial" panose="020B0604020202020204" pitchFamily="34" charset="0"/>
              </a:rPr>
              <a:t>This work is co-authored with Yong Xiao </a:t>
            </a:r>
            <a:r>
              <a:rPr lang="en-US" altLang="zh-CN" sz="1050" dirty="0">
                <a:solidFill>
                  <a:prstClr val="black"/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</a:rPr>
              <a:t>from Huazhong University of Science and Technology</a:t>
            </a:r>
            <a:r>
              <a:rPr lang="en-US" altLang="zh-CN" sz="1050" dirty="0">
                <a:latin typeface="Arial" panose="020B0604020202020204" pitchFamily="34" charset="0"/>
                <a:cs typeface="Arial" panose="020B0604020202020204" pitchFamily="34" charset="0"/>
              </a:rPr>
              <a:t>, and</a:t>
            </a:r>
            <a:r>
              <a:rPr lang="zh-CN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prstClr val="black"/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</a:rPr>
              <a:t>Yingyu</a:t>
            </a:r>
            <a:r>
              <a:rPr lang="en-US" altLang="zh-CN" sz="1050" dirty="0">
                <a:solidFill>
                  <a:prstClr val="black"/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</a:rPr>
              <a:t> Li from China University of Geosciences.</a:t>
            </a:r>
            <a:endParaRPr lang="en-US" altLang="zh-CN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050" dirty="0">
                <a:latin typeface="Arial" panose="020B0604020202020204" pitchFamily="34" charset="0"/>
                <a:cs typeface="Arial" panose="020B0604020202020204" pitchFamily="34" charset="0"/>
              </a:rPr>
              <a:t>I’m glad to share my recent work with you here.</a:t>
            </a:r>
          </a:p>
          <a:p>
            <a:endParaRPr lang="en-US" altLang="zh-CN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50" b="0" dirty="0">
                <a:latin typeface="Arial" panose="020B0604020202020204" pitchFamily="34" charset="0"/>
                <a:cs typeface="Arial" panose="020B0604020202020204" pitchFamily="34" charset="0"/>
              </a:rPr>
              <a:t>The topic of my presentation is</a:t>
            </a:r>
            <a:r>
              <a:rPr lang="en-US" altLang="zh-CN" sz="105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b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 the Generalization and Personalization Tradeoff in Agentic AI Networks.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50" b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（</a:t>
            </a:r>
            <a:r>
              <a:rPr lang="en-US" altLang="zh-CN" sz="1050" b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0.5min</a:t>
            </a:r>
            <a:r>
              <a:rPr lang="zh-CN" altLang="en-US" sz="1050" b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endParaRPr lang="en-US" altLang="zh-CN" sz="1050" b="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75ADC-87E7-4941-AEEB-CB8BA3A3C04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442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My presentation will cover the following five aspects: </a:t>
            </a:r>
            <a:r>
              <a:rPr lang="en-US" altLang="zh-CN" b="1" dirty="0"/>
              <a:t>first</a:t>
            </a:r>
            <a:r>
              <a:rPr lang="en-US" altLang="zh-CN" dirty="0"/>
              <a:t> I will introduce the background and motivation of my research. </a:t>
            </a:r>
            <a:r>
              <a:rPr lang="en-US" altLang="zh-CN" b="1" dirty="0"/>
              <a:t>Second,</a:t>
            </a:r>
            <a:r>
              <a:rPr lang="en-US" altLang="zh-CN" dirty="0"/>
              <a:t> is the system model and problem formulation.</a:t>
            </a:r>
            <a:r>
              <a:rPr lang="en-US" altLang="zh-CN" b="0" dirty="0"/>
              <a:t> </a:t>
            </a:r>
            <a:r>
              <a:rPr lang="en-US" altLang="zh-CN" b="1" dirty="0"/>
              <a:t>Third,</a:t>
            </a:r>
            <a:r>
              <a:rPr lang="en-US" altLang="zh-CN" dirty="0"/>
              <a:t> I will introduce the workflow of MAN, and </a:t>
            </a:r>
            <a:r>
              <a:rPr lang="en-US" altLang="zh-CN" b="1" dirty="0"/>
              <a:t>then</a:t>
            </a:r>
            <a:r>
              <a:rPr lang="en-US" altLang="zh-CN" dirty="0"/>
              <a:t> is the theoretical and simulation results, </a:t>
            </a:r>
            <a:r>
              <a:rPr lang="en-US" altLang="zh-CN" b="1" dirty="0"/>
              <a:t>last</a:t>
            </a:r>
            <a:r>
              <a:rPr lang="en-US" altLang="zh-CN" dirty="0"/>
              <a:t> is conclusions.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ED991D-089A-4987-8E65-C6AAF7A313B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2495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With the increasing proliferation of AI-based solutions in various parts of telecommunication networks, the next generation mobile systems, will be largely defined by a complex ecosystem consisting of diverse AI-based functions, models, and applications.</a:t>
            </a:r>
          </a:p>
          <a:p>
            <a:endParaRPr lang="en-US" altLang="zh-CN" dirty="0"/>
          </a:p>
          <a:p>
            <a:r>
              <a:rPr lang="en-US" altLang="zh-CN" dirty="0"/>
              <a:t>However, existing solutions still based on a passive learning framework, and often adopted a centralized scheme, which may lead to privacy leakage and network congestion.</a:t>
            </a:r>
          </a:p>
          <a:p>
            <a:endParaRPr lang="en-US" altLang="zh-CN" dirty="0"/>
          </a:p>
          <a:p>
            <a:r>
              <a:rPr lang="en-US" altLang="zh-CN" dirty="0"/>
              <a:t>Agentic AI networking can perceive dynamic environments, execute autonomous decision-making, and refine operational strategies via continuous collaboration. Thus, it has attracted significant interest from both industry and academia.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75ADC-87E7-4941-AEEB-CB8BA3A3C04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7540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Generalization and personalization are two critical metrics for AgentNet because they collectively determine the system’s overall adaptability and user-centric effectiveness.</a:t>
            </a:r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u="none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Generalization </a:t>
            </a:r>
            <a:r>
              <a:rPr lang="en-US" altLang="zh-CN" sz="1200" b="0" i="0" u="none" dirty="0">
                <a:latin typeface="Calibri" panose="020F0502020204030204" pitchFamily="34" charset="0"/>
                <a:cs typeface="Calibri" panose="020F0502020204030204" pitchFamily="34" charset="0"/>
              </a:rPr>
              <a:t>ensures each agent can apply  previously learned knowledge or skills across diverse, unseen  tasks and environments. Personalization </a:t>
            </a:r>
            <a:r>
              <a:rPr lang="en-US" altLang="zh-CN" sz="1200" dirty="0">
                <a:ea typeface="微软雅黑" panose="020B0503020204020204" pitchFamily="34" charset="-122"/>
                <a:cs typeface="Arial" panose="020B0604020202020204" pitchFamily="34" charset="0"/>
              </a:rPr>
              <a:t>allows the agent to tailor its behavior, responses, or decision-making to  individual users’ personal preferences.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0" u="none" dirty="0">
              <a:latin typeface="Calibri" panose="020F050202020403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u="none" dirty="0">
                <a:latin typeface="Calibri" panose="020F0502020204030204" pitchFamily="34" charset="0"/>
                <a:cs typeface="Calibri" panose="020F0502020204030204" pitchFamily="34" charset="0"/>
              </a:rPr>
              <a:t>At this point, a crucial issue emerges, How can we effectively balance the tradeoff between generalization and personalization in agentic AI networking?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75ADC-87E7-4941-AEEB-CB8BA3A3C04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545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Here are the key contributions of this work.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75ADC-87E7-4941-AEEB-CB8BA3A3C04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004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Next I will introduce the system model and problem formulation of our work.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ED991D-089A-4987-8E65-C6AAF7A313B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690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I will introduce the system model first.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solidFill>
                  <a:srgbClr val="C00000"/>
                </a:solidFill>
                <a:cs typeface="Times New Roman" panose="02020603050405020304" pitchFamily="18" charset="0"/>
              </a:rPr>
              <a:t>Foundation meta-models </a:t>
            </a:r>
            <a:r>
              <a:rPr lang="en-US" altLang="zh-CN" b="0" dirty="0">
                <a:cs typeface="Times New Roman" panose="02020603050405020304" pitchFamily="18" charset="0"/>
              </a:rPr>
              <a:t>are deployed at the cloud targeting at different tasks and constructed and maintained by all agents for </a:t>
            </a:r>
            <a:r>
              <a:rPr lang="en-US" altLang="zh-CN" b="0" dirty="0">
                <a:solidFill>
                  <a:srgbClr val="C00000"/>
                </a:solidFill>
                <a:cs typeface="Times New Roman" panose="02020603050405020304" pitchFamily="18" charset="0"/>
              </a:rPr>
              <a:t>better generalization capability</a:t>
            </a:r>
            <a:r>
              <a:rPr lang="en-US" altLang="zh-CN" b="0" dirty="0"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dirty="0"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>
                <a:cs typeface="Times New Roman" panose="02020603050405020304" pitchFamily="18" charset="0"/>
              </a:rPr>
              <a:t>Each agent aims to </a:t>
            </a:r>
            <a:r>
              <a:rPr lang="en-US" altLang="zh-CN" b="0" dirty="0">
                <a:solidFill>
                  <a:srgbClr val="C00000"/>
                </a:solidFill>
                <a:cs typeface="Times New Roman" panose="02020603050405020304" pitchFamily="18" charset="0"/>
              </a:rPr>
              <a:t>finetune the meta-model </a:t>
            </a:r>
            <a:r>
              <a:rPr lang="en-US" altLang="zh-CN" b="0" dirty="0">
                <a:cs typeface="Times New Roman" panose="02020603050405020304" pitchFamily="18" charset="0"/>
              </a:rPr>
              <a:t>according to its local dataset to enhance the </a:t>
            </a:r>
            <a:r>
              <a:rPr lang="en-US" altLang="zh-CN" b="0" dirty="0">
                <a:solidFill>
                  <a:srgbClr val="C00000"/>
                </a:solidFill>
                <a:cs typeface="Times New Roman" panose="02020603050405020304" pitchFamily="18" charset="0"/>
              </a:rPr>
              <a:t>personalization performance</a:t>
            </a:r>
            <a:r>
              <a:rPr lang="en-US" altLang="zh-CN" b="0" dirty="0">
                <a:cs typeface="Times New Roman" panose="02020603050405020304" pitchFamily="18" charset="0"/>
              </a:rPr>
              <a:t>.</a:t>
            </a:r>
            <a:endParaRPr lang="zh-CN" altLang="en-US" b="0" dirty="0"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We emphasize that the environment of each agent change with time.</a:t>
            </a:r>
            <a:endParaRPr lang="zh-CN" altLang="en-US" dirty="0"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75ADC-87E7-4941-AEEB-CB8BA3A3C04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3306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NimbusRomNo9L-Regu"/>
              </a:rPr>
              <a:t>The key procedures are shown on the right.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First, the agent controller will identify the task handled by each agent, and distribute the corresponding pre-trained meta-model for it based on its task.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Second, upon receiving the meta-model, the agent performs local adaptation.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Third, during this process, continuously evaluate the personalization and generalization errors.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Once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personalization error meets the requirement, it’s ready for deployment.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Finally, the agent controller assesses the global generalization error. Once the requirements are not met, the meta-model will be updated.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75ADC-87E7-4941-AEEB-CB8BA3A3C04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8888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NimbusRomNo9L-Regu"/>
              </a:rPr>
              <a:t>Before we formulate the problem, let us first introduce the definition of generalization and personalization errors.</a:t>
            </a:r>
          </a:p>
          <a:p>
            <a:endParaRPr lang="en-US" altLang="zh-CN" sz="1800" b="0" i="0" dirty="0">
              <a:solidFill>
                <a:srgbClr val="000000"/>
              </a:solidFill>
              <a:effectLst/>
              <a:latin typeface="NimbusRomNo9L-Regu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NimbusRomNo9L-Regu"/>
              </a:rPr>
              <a:t>Generalization error is defined as </a:t>
            </a:r>
            <a:r>
              <a:rPr lang="en-US" altLang="zh-CN" sz="2800" dirty="0"/>
              <a:t>the average value of the discrepancy between the empirical error and the population error obtained by each agent’s local model.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8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dirty="0"/>
              <a:t>From the definition, we can observe that to improve generalization performance, it requires to learn common patterns and features from a wide range of diverse datasets.</a:t>
            </a:r>
          </a:p>
          <a:p>
            <a:endParaRPr lang="en-US" altLang="zh-CN" sz="1800" b="0" i="0" dirty="0">
              <a:solidFill>
                <a:srgbClr val="000000"/>
              </a:solidFill>
              <a:effectLst/>
              <a:latin typeface="NimbusRomNo9L-Regu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75ADC-87E7-4941-AEEB-CB8BA3A3C04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0121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NimbusRomNo9L-Regu"/>
              </a:rPr>
              <a:t>Personalization error is defined as performance gap between the local model obtained by finetuning the foundation meta-model and the locally optimal model.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b="0" i="0" dirty="0">
              <a:solidFill>
                <a:srgbClr val="000000"/>
              </a:solidFill>
              <a:effectLst/>
              <a:latin typeface="NimbusRomNo9L-Regu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dirty="0"/>
              <a:t>To enhance the personalization capability, it requires the model focus on the unique preferences and personalized behaviors of a single agent.</a:t>
            </a:r>
          </a:p>
          <a:p>
            <a:endParaRPr lang="en-US" altLang="zh-CN" sz="1800" b="0" i="0" dirty="0">
              <a:solidFill>
                <a:srgbClr val="000000"/>
              </a:solidFill>
              <a:effectLst/>
              <a:latin typeface="NimbusRomNo9L-Regu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75ADC-87E7-4941-AEEB-CB8BA3A3C04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0202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NimbusRomNo9L-Regu"/>
              </a:rPr>
              <a:t>Based on the two definitions, the main objective is to develop a unified AgentNet architecture for all agents that minimize their local task-specific losses and at the same time ensure both generalization and personalization errors are below tolerable levels.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75ADC-87E7-4941-AEEB-CB8BA3A3C04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7914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Then, we will present the workflow of MAN.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ED991D-089A-4987-8E65-C6AAF7A313B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923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As previously discussed, the key procedures has been introduced.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So In this section, I will mainly focus on how the model is updated.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75ADC-87E7-4941-AEEB-CB8BA3A3C04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3129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Upon receiving the meta-model,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the agent finetune the meta-initialization via several steps of stochastic gradient descent to obtain a personalized local model.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During this process, continuously evaluate the personalization and generalization errors.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Once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personalization error meets the requirement, it’s ready for deployment.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75ADC-87E7-4941-AEEB-CB8BA3A3C04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6129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The agent controller periodically assesses the global generalization error. Once the requirements are not met, the meta-model will be updated by collecting the latest gradients of the local models of all the agents that are sharing this task.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75ADC-87E7-4941-AEEB-CB8BA3A3C04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6399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validate the proposed MAN, we conducted the following theoretical and experimental results.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ED991D-089A-4987-8E65-C6AAF7A313B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019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 first present the upper bound of generalization error. It’s a asymptotic bound regarding the number of iteration rounds and local adaptation steps.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75ADC-87E7-4941-AEEB-CB8BA3A3C04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6510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We then present the upper bound of personalization error. It consists of two terms, the first term is adaptation error that decays at a rate of one over E, reflecting improved convergence towards the local optimum.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The second term denotes residual initial deviation, which diminishes exponentially. The initial model discrepancy is progressively corrected.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observe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fundamental tradeoff between generalization and personalization, which is controlled by </a:t>
            </a:r>
            <a:r>
              <a:rPr lang="en-US" altLang="zh-CN" dirty="0">
                <a:solidFill>
                  <a:schemeClr val="tx1"/>
                </a:solidFill>
              </a:rPr>
              <a:t>Iterations, collaborative agents, Adaptation steps, and step size.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75ADC-87E7-4941-AEEB-CB8BA3A3C04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29953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URWPalladioL-Roma"/>
              </a:rPr>
              <a:t>We conduct the experiments using two real-world datasets. Both datasets are for classification tasks, and one of them is the well-known MNIST, and another one is Widar 3.0, it’s a </a:t>
            </a:r>
            <a:r>
              <a:rPr lang="en-US" altLang="zh-CN" dirty="0">
                <a:cs typeface="Times New Roman" panose="02020603050405020304" pitchFamily="18" charset="0"/>
              </a:rPr>
              <a:t>RF-based human gesture recognition dataset recorded by 6 distributed Wi-Fi receivers</a:t>
            </a:r>
            <a:endParaRPr lang="en-US" altLang="zh-CN" sz="1200" dirty="0">
              <a:solidFill>
                <a:srgbClr val="000000"/>
              </a:solidFill>
              <a:effectLst/>
              <a:latin typeface="URWPalladioL-Rom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rgbClr val="000000"/>
              </a:solidFill>
              <a:effectLst/>
              <a:latin typeface="URWPalladioL-Rom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rgbClr val="000000"/>
                </a:solidFill>
                <a:effectLst/>
                <a:latin typeface="URWPalladioL-Roma"/>
              </a:rPr>
              <a:t>The detailed setup is shown in the right table.</a:t>
            </a:r>
          </a:p>
          <a:p>
            <a:endParaRPr lang="en-US" altLang="zh-CN" sz="1200" dirty="0">
              <a:solidFill>
                <a:srgbClr val="000000"/>
              </a:solidFill>
              <a:effectLst/>
              <a:latin typeface="URWPalladioL-Rom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75ADC-87E7-4941-AEEB-CB8BA3A3C04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8986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We first present a comparative evaluation of different agent collaboration approaches for the recognition task on MNIST and Widar3.0 datasets. </a:t>
            </a:r>
            <a:r>
              <a:rPr lang="en-US" altLang="zh-CN" dirty="0">
                <a:solidFill>
                  <a:schemeClr val="tx1"/>
                </a:solidFill>
              </a:rPr>
              <a:t>The proposed MAN demonstrates superior performance in both personalization and generalization, achieving a favorable tradeoff.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chemeClr val="tx1"/>
                </a:solidFill>
              </a:rPr>
              <a:t>We compare the </a:t>
            </a:r>
            <a:r>
              <a:rPr lang="en-US" altLang="zh-CN">
                <a:solidFill>
                  <a:schemeClr val="tx1"/>
                </a:solidFill>
              </a:rPr>
              <a:t>converged recognition </a:t>
            </a:r>
            <a:r>
              <a:rPr lang="en-US" altLang="zh-CN" dirty="0">
                <a:solidFill>
                  <a:schemeClr val="tx1"/>
                </a:solidFill>
              </a:rPr>
              <a:t>accuracy when the foundation model is trained with varying numbers of collaborative agents under different non-</a:t>
            </a:r>
            <a:r>
              <a:rPr lang="en-US" altLang="zh-CN" dirty="0" err="1">
                <a:solidFill>
                  <a:schemeClr val="tx1"/>
                </a:solidFill>
              </a:rPr>
              <a:t>i.i.d.</a:t>
            </a:r>
            <a:r>
              <a:rPr lang="en-US" altLang="zh-CN" dirty="0">
                <a:solidFill>
                  <a:schemeClr val="tx1"/>
                </a:solidFill>
              </a:rPr>
              <a:t> conditions. Larger p means more </a:t>
            </a:r>
            <a:r>
              <a:rPr lang="en-US" altLang="zh-CN" dirty="0" err="1">
                <a:solidFill>
                  <a:schemeClr val="tx1"/>
                </a:solidFill>
              </a:rPr>
              <a:t>iid</a:t>
            </a:r>
            <a:r>
              <a:rPr lang="en-US" altLang="zh-CN" dirty="0">
                <a:solidFill>
                  <a:schemeClr val="tx1"/>
                </a:solidFill>
              </a:rPr>
              <a:t>. We observe that accuracy always improves as the number of agents increases. And this improvement is most pronounced in moderately heterogeneous scenarios.</a:t>
            </a:r>
            <a:endParaRPr lang="en-US" altLang="zh-CN" dirty="0"/>
          </a:p>
          <a:p>
            <a:r>
              <a:rPr lang="zh-CN" altLang="en-US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75ADC-87E7-4941-AEEB-CB8BA3A3C04A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8606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We validate our theoretical results on the tradeoff between local personalization and global generalization.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observe that </a:t>
            </a:r>
            <a:r>
              <a:rPr lang="en-US" altLang="zh-CN" dirty="0">
                <a:solidFill>
                  <a:schemeClr val="tx1"/>
                </a:solidFill>
              </a:rPr>
              <a:t>Our theoretical results hold generally. The tradeoff can only be optimized but not entirely eliminated.</a:t>
            </a:r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/>
              <a:t>Finally, we compare our derived </a:t>
            </a:r>
            <a:r>
              <a:rPr lang="en-US" altLang="zh-CN" b="0" dirty="0">
                <a:solidFill>
                  <a:srgbClr val="44546A"/>
                </a:solidFill>
              </a:rPr>
              <a:t>theoretical bounds for generalization with existing solutions. We observe</a:t>
            </a:r>
            <a:r>
              <a:rPr lang="en-US" altLang="zh-CN" b="0" baseline="0" dirty="0">
                <a:solidFill>
                  <a:srgbClr val="44546A"/>
                </a:solidFill>
              </a:rPr>
              <a:t> that </a:t>
            </a:r>
            <a:r>
              <a:rPr lang="en-US" altLang="zh-CN" dirty="0">
                <a:solidFill>
                  <a:schemeClr val="tx1"/>
                </a:solidFill>
              </a:rPr>
              <a:t>the asymptotic stability of our bound enables a better characterization of generalization performance, especially in large T regime.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b="0" dirty="0">
              <a:solidFill>
                <a:srgbClr val="44546A"/>
              </a:solidFill>
            </a:endParaRPr>
          </a:p>
          <a:p>
            <a:r>
              <a:rPr lang="en-US" altLang="zh-CN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75ADC-87E7-4941-AEEB-CB8BA3A3C04A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3402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Finally, here are conclusions.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ED991D-089A-4987-8E65-C6AAF7A313B6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7955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75ADC-87E7-4941-AEEB-CB8BA3A3C04A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302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That’ s all! Thanks for your listening.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255E4-D21D-43F4-9B6B-5BF42F4AA56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408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 baseline="0"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aseline="0"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02211" y="6356349"/>
            <a:ext cx="2743200" cy="365125"/>
          </a:xfrm>
        </p:spPr>
        <p:txBody>
          <a:bodyPr/>
          <a:lstStyle>
            <a:lvl1pPr algn="ctr">
              <a:defRPr sz="1600" baseline="0"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0A8A920C-2E03-452C-A8F2-F0FF6D5C2A43}" type="datetime4">
              <a:rPr lang="en-US" altLang="zh-CN" smtClean="0"/>
              <a:pPr/>
              <a:t>December 11, 2025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 baseline="0"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Huazhong University of Science</a:t>
            </a:r>
            <a:r>
              <a:rPr lang="zh-CN" alt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and Technology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589" y="6353916"/>
            <a:ext cx="2743200" cy="365125"/>
          </a:xfrm>
        </p:spPr>
        <p:txBody>
          <a:bodyPr/>
          <a:lstStyle/>
          <a:p>
            <a:fld id="{682DB644-27B9-4E2B-A72D-4E927967311B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202A73F-A5C1-4F4B-BDE5-776942859D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768" y="48933"/>
            <a:ext cx="1511935" cy="115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391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0945"/>
          </a:xfrm>
        </p:spPr>
        <p:txBody>
          <a:bodyPr>
            <a:normAutofit/>
          </a:bodyPr>
          <a:lstStyle>
            <a:lvl1pPr>
              <a:defRPr sz="4000" baseline="0"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4183"/>
            <a:ext cx="10515600" cy="4792780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>
              <a:defRPr baseline="0"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>
              <a:defRPr baseline="0"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>
              <a:defRPr baseline="0"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>
              <a:defRPr baseline="0">
                <a:latin typeface="Calibri" panose="020F050202020403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7E8D41F-ADE3-46BF-B57E-0796928C1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1600" baseline="0"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Huazhong University of Science</a:t>
            </a:r>
            <a:r>
              <a:rPr lang="zh-CN" alt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and Technology</a:t>
            </a:r>
            <a:endParaRPr lang="zh-CN" alt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3FF71E2-C216-45F3-B2A6-F9ED0D175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589" y="6353916"/>
            <a:ext cx="2743200" cy="365125"/>
          </a:xfrm>
        </p:spPr>
        <p:txBody>
          <a:bodyPr/>
          <a:lstStyle/>
          <a:p>
            <a:fld id="{682DB644-27B9-4E2B-A72D-4E927967311B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9477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D6388-ECF5-4766-92D0-459A04DBA477}" type="datetime4">
              <a:rPr lang="en-US" altLang="zh-CN" smtClean="0"/>
              <a:t>December 11, 2025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Huazhong University of Science and Technology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B644-27B9-4E2B-A72D-4E92796731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984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B404-F5BF-44A8-8859-DA0F9ED78489}" type="datetime4">
              <a:rPr lang="en-US" altLang="zh-CN" smtClean="0"/>
              <a:t>December 11, 2025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Huazhong University of Science and Technology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B644-27B9-4E2B-A72D-4E92796731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340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BCC6-E9C2-4434-B0CA-3E765EC1D9AC}" type="datetime4">
              <a:rPr lang="en-US" altLang="zh-CN" smtClean="0"/>
              <a:t>December 11, 2025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Huazhong University of Science and Technology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B644-27B9-4E2B-A72D-4E92796731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4071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62B7B-9D02-4B74-A437-7667FBDC0007}" type="datetime4">
              <a:rPr lang="en-US" altLang="zh-CN" smtClean="0"/>
              <a:t>December 11, 2025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Huazhong University of Science and Technology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B644-27B9-4E2B-A72D-4E92796731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18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9E761-EFFC-49C5-820C-986D0E305B76}" type="datetime4">
              <a:rPr lang="en-US" altLang="zh-CN" smtClean="0"/>
              <a:t>December 11, 2025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Huazhong University of Science and Technology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B644-27B9-4E2B-A72D-4E92796731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968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F68D1-5BAA-4CBC-BA60-C1A1B962D267}" type="datetime4">
              <a:rPr lang="en-US" altLang="zh-CN" smtClean="0"/>
              <a:t>December 11, 2025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Huazhong University of Science and Technology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B644-27B9-4E2B-A72D-4E92796731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657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08CB7-27BD-4A28-A111-9D4245FABE56}" type="datetime4">
              <a:rPr lang="en-US" altLang="zh-CN" smtClean="0"/>
              <a:t>December 11, 2025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Huazhong University of Science and Technology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B644-27B9-4E2B-A72D-4E92796731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121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BD548-5CFD-4C71-B150-034B9CC06DC4}" type="datetime4">
              <a:rPr lang="en-US" altLang="zh-CN" smtClean="0"/>
              <a:t>December 11, 2025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Huazhong University of Science and Technology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B644-27B9-4E2B-A72D-4E92796731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727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78B24-959E-4852-BD92-CB0269ED3EB5}" type="datetime4">
              <a:rPr lang="en-US" altLang="zh-CN" smtClean="0"/>
              <a:t>December 11, 2025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Huazhong University of Science and Technology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B644-27B9-4E2B-A72D-4E92796731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906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E00F0-2851-4F1D-98D0-006B422CCE20}" type="datetime4">
              <a:rPr lang="en-US" altLang="zh-CN" smtClean="0"/>
              <a:t>December 11, 2025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Huazhong University of Science and Technology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DB644-27B9-4E2B-A72D-4E92796731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829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0" Type="http://schemas.openxmlformats.org/officeDocument/2006/relationships/image" Target="../media/image27.png"/><Relationship Id="rId9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e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mailto:xuboli@hust.edu.cn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B346C36F-51E1-476A-B5A6-1740933579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82439"/>
            <a:ext cx="9144000" cy="165576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b="1" dirty="0"/>
              <a:t>Xubo Li</a:t>
            </a:r>
            <a:r>
              <a:rPr lang="en-US" altLang="zh-CN" sz="1600" b="1" baseline="30000" dirty="0"/>
              <a:t>∗</a:t>
            </a:r>
            <a:r>
              <a:rPr lang="en-US" altLang="zh-CN" sz="1600" dirty="0"/>
              <a:t>, Yong Xiao </a:t>
            </a:r>
            <a:r>
              <a:rPr lang="en-US" altLang="zh-CN" sz="1600" baseline="30000" dirty="0"/>
              <a:t>∗ § ¶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Yingyu</a:t>
            </a:r>
            <a:r>
              <a:rPr lang="en-US" altLang="zh-CN" sz="1600" dirty="0"/>
              <a:t> Li</a:t>
            </a:r>
            <a:r>
              <a:rPr lang="en-US" altLang="zh-CN" sz="1600" baseline="30000" dirty="0"/>
              <a:t>‡</a:t>
            </a:r>
            <a:br>
              <a:rPr lang="en-US" altLang="zh-CN" sz="1600" dirty="0"/>
            </a:br>
            <a:r>
              <a:rPr lang="en-US" altLang="zh-CN" sz="1600" dirty="0"/>
              <a:t>∗School of Elect. Inform. &amp; </a:t>
            </a:r>
            <a:r>
              <a:rPr lang="en-US" altLang="zh-CN" sz="1600" dirty="0" err="1"/>
              <a:t>Commun</a:t>
            </a:r>
            <a:r>
              <a:rPr lang="en-US" altLang="zh-CN" sz="1600" dirty="0"/>
              <a:t>., Huazhong Univ. of Science &amp; Technology, Wuhan, China</a:t>
            </a:r>
            <a:br>
              <a:rPr lang="en-US" altLang="zh-CN" sz="1600" dirty="0"/>
            </a:br>
            <a:r>
              <a:rPr lang="en-US" altLang="zh-CN" sz="1600" dirty="0"/>
              <a:t>§</a:t>
            </a:r>
            <a:r>
              <a:rPr lang="en-US" altLang="zh-CN" sz="1600" dirty="0" err="1"/>
              <a:t>Pengcheng</a:t>
            </a:r>
            <a:r>
              <a:rPr lang="en-US" altLang="zh-CN" sz="1600" dirty="0"/>
              <a:t> National Laboratory, Shenzhen, China</a:t>
            </a:r>
            <a:br>
              <a:rPr lang="en-US" altLang="zh-CN" sz="1600" dirty="0"/>
            </a:br>
            <a:r>
              <a:rPr lang="en-US" altLang="zh-CN" sz="1600" dirty="0"/>
              <a:t>¶</a:t>
            </a:r>
            <a:r>
              <a:rPr lang="en-US" altLang="zh-CN" sz="1600" dirty="0" err="1"/>
              <a:t>Pazhou</a:t>
            </a:r>
            <a:r>
              <a:rPr lang="en-US" altLang="zh-CN" sz="1600" dirty="0"/>
              <a:t> Lab, Guangzhou, China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600" dirty="0"/>
              <a:t>‡School of Mech. Eng. and Elect. Inform., China University of Geosciences, Wuhan, China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3A4B3E0-EFF3-4443-9306-55F34E6D77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652" y="1819919"/>
            <a:ext cx="10762695" cy="1379322"/>
          </a:xfrm>
        </p:spPr>
        <p:txBody>
          <a:bodyPr/>
          <a:lstStyle/>
          <a:p>
            <a:r>
              <a:rPr lang="en-US" altLang="zh-CN" sz="40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 the Generalization and Personalization Tradeoff in Agentic AI Networks</a:t>
            </a:r>
            <a:endParaRPr lang="zh-CN" altLang="en-US" dirty="0"/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1BB647BB-3DD0-4FD7-80BA-FCB6C28E0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34F29-FD5C-49D2-8ED4-5F81BB518869}" type="datetime4">
              <a:rPr lang="en-US" altLang="zh-CN" smtClean="0"/>
              <a:t>December 11, 2025</a:t>
            </a:fld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D4CE6F4-942F-42D1-93C3-107B32ECDF59}"/>
              </a:ext>
            </a:extLst>
          </p:cNvPr>
          <p:cNvGrpSpPr/>
          <p:nvPr/>
        </p:nvGrpSpPr>
        <p:grpSpPr>
          <a:xfrm>
            <a:off x="4462938" y="4938201"/>
            <a:ext cx="3266122" cy="659995"/>
            <a:chOff x="4828396" y="4976327"/>
            <a:chExt cx="3266122" cy="659995"/>
          </a:xfrm>
        </p:grpSpPr>
        <p:sp>
          <p:nvSpPr>
            <p:cNvPr id="7" name="September 5, 2018…">
              <a:extLst>
                <a:ext uri="{FF2B5EF4-FFF2-40B4-BE49-F238E27FC236}">
                  <a16:creationId xmlns:a16="http://schemas.microsoft.com/office/drawing/2014/main" id="{22754A12-B1EB-4696-8977-7E38D77A93EF}"/>
                </a:ext>
              </a:extLst>
            </p:cNvPr>
            <p:cNvSpPr txBox="1"/>
            <p:nvPr/>
          </p:nvSpPr>
          <p:spPr>
            <a:xfrm>
              <a:off x="5379151" y="5101141"/>
              <a:ext cx="2715367" cy="41036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anchor="ctr">
              <a:sp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  <a:r>
                <a:rPr lang="en-US" altLang="zh-CN" sz="2000" b="1" dirty="0">
                  <a:latin typeface="Times New Roman" panose="02020603050405020304" pitchFamily="18" charset="0"/>
                  <a:ea typeface="SimSun" pitchFamily="2" charset="-122"/>
                  <a:cs typeface="Times New Roman" panose="02020603050405020304" pitchFamily="18" charset="0"/>
                </a:rPr>
                <a:t>IEEE GLOBECOM’25</a:t>
              </a:r>
              <a:endParaRPr sz="2000" b="1" dirty="0">
                <a:latin typeface="Times New Roman" panose="02020603050405020304" pitchFamily="18" charset="0"/>
                <a:ea typeface="SimSun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CB0EB82A-3A1E-4640-A17A-AC51A69B80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0025" r="-3240"/>
            <a:stretch/>
          </p:blipFill>
          <p:spPr>
            <a:xfrm>
              <a:off x="4828396" y="4976327"/>
              <a:ext cx="550755" cy="6599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40743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5DE6C54-FD1E-4696-871B-32C788369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4406" y="522287"/>
            <a:ext cx="7723188" cy="92551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Outline</a:t>
            </a:r>
          </a:p>
        </p:txBody>
      </p:sp>
      <p:sp>
        <p:nvSpPr>
          <p:cNvPr id="7" name="Introduction…">
            <a:extLst>
              <a:ext uri="{FF2B5EF4-FFF2-40B4-BE49-F238E27FC236}">
                <a16:creationId xmlns:a16="http://schemas.microsoft.com/office/drawing/2014/main" id="{2DE8D281-7E89-4066-BCF6-A14571FF8F69}"/>
              </a:ext>
            </a:extLst>
          </p:cNvPr>
          <p:cNvSpPr txBox="1">
            <a:spLocks/>
          </p:cNvSpPr>
          <p:nvPr/>
        </p:nvSpPr>
        <p:spPr>
          <a:xfrm>
            <a:off x="930644" y="1751120"/>
            <a:ext cx="9442716" cy="472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990">
              <a:lnSpc>
                <a:spcPct val="150000"/>
              </a:lnSpc>
              <a:spcBef>
                <a:spcPts val="1100"/>
              </a:spcBef>
              <a:buFont typeface="Wingdings" panose="05000000000000000000" pitchFamily="2" charset="2"/>
              <a:buChar char="p"/>
              <a:defRPr sz="3230"/>
            </a:pPr>
            <a:r>
              <a:rPr lang="en-US" altLang="zh-CN" sz="3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Background and Motivation</a:t>
            </a:r>
            <a:endParaRPr lang="en-US" altLang="zh-CN" sz="32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554990">
              <a:lnSpc>
                <a:spcPct val="150000"/>
              </a:lnSpc>
              <a:spcBef>
                <a:spcPts val="1100"/>
              </a:spcBef>
              <a:buFont typeface="Wingdings" panose="05000000000000000000" pitchFamily="2" charset="2"/>
              <a:buChar char="p"/>
              <a:defRPr sz="3230"/>
            </a:pPr>
            <a:r>
              <a:rPr lang="en-US" altLang="zh-CN" sz="3200" b="1" dirty="0">
                <a:latin typeface="Calibri" panose="020F0502020204030204" pitchFamily="34" charset="0"/>
                <a:cs typeface="Calibri" panose="020F0502020204030204" pitchFamily="34" charset="0"/>
              </a:rPr>
              <a:t>System Model &amp; Problem Formulation</a:t>
            </a:r>
          </a:p>
          <a:p>
            <a:pPr defTabSz="554990">
              <a:lnSpc>
                <a:spcPct val="150000"/>
              </a:lnSpc>
              <a:spcBef>
                <a:spcPts val="1100"/>
              </a:spcBef>
              <a:buFont typeface="Wingdings" panose="05000000000000000000" pitchFamily="2" charset="2"/>
              <a:buChar char="p"/>
              <a:defRPr sz="3230"/>
            </a:pPr>
            <a:r>
              <a:rPr lang="en-US" altLang="zh-CN" sz="3200" b="1" dirty="0">
                <a:latin typeface="Calibri" panose="020F0502020204030204" pitchFamily="34" charset="0"/>
                <a:cs typeface="Calibri" panose="020F0502020204030204" pitchFamily="34" charset="0"/>
              </a:rPr>
              <a:t>Workflow of MAN</a:t>
            </a:r>
          </a:p>
          <a:p>
            <a:pPr defTabSz="554990">
              <a:lnSpc>
                <a:spcPct val="150000"/>
              </a:lnSpc>
              <a:spcBef>
                <a:spcPts val="1100"/>
              </a:spcBef>
              <a:buFont typeface="Wingdings" panose="05000000000000000000" pitchFamily="2" charset="2"/>
              <a:buChar char="p"/>
              <a:defRPr sz="3230"/>
            </a:pPr>
            <a:r>
              <a:rPr lang="en-US" altLang="zh-CN" sz="3200" b="1" dirty="0">
                <a:latin typeface="Calibri" panose="020F0502020204030204" pitchFamily="34" charset="0"/>
                <a:cs typeface="Calibri" panose="020F0502020204030204" pitchFamily="34" charset="0"/>
              </a:rPr>
              <a:t>Theoretical &amp; Experimental Results</a:t>
            </a:r>
          </a:p>
          <a:p>
            <a:pPr defTabSz="554990">
              <a:lnSpc>
                <a:spcPct val="150000"/>
              </a:lnSpc>
              <a:spcBef>
                <a:spcPts val="1100"/>
              </a:spcBef>
              <a:buFont typeface="Wingdings" panose="05000000000000000000" pitchFamily="2" charset="2"/>
              <a:buChar char="p"/>
              <a:defRPr sz="3230"/>
            </a:pPr>
            <a:r>
              <a:rPr lang="en-US" altLang="zh-CN" sz="3200" b="1" dirty="0">
                <a:latin typeface="Calibri" panose="020F0502020204030204" pitchFamily="34" charset="0"/>
                <a:cs typeface="Calibri" panose="020F0502020204030204" pitchFamily="34" charset="0"/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3353175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917"/>
    </mc:Choice>
    <mc:Fallback xmlns="">
      <p:transition spd="slow" advTm="1491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442977-DB24-40E5-883A-4D296B77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sz="3230"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等线 Light" panose="02010600030101010101" pitchFamily="2" charset="-122"/>
                <a:cs typeface="Calibri" panose="020F0502020204030204" pitchFamily="34" charset="0"/>
              </a:rPr>
              <a:t>Background</a:t>
            </a:r>
            <a:endParaRPr lang="zh-CN" altLang="en-US" dirty="0"/>
          </a:p>
        </p:txBody>
      </p: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F38E44C8-CAB7-4A66-A256-E99387F7A932}"/>
              </a:ext>
            </a:extLst>
          </p:cNvPr>
          <p:cNvGrpSpPr/>
          <p:nvPr/>
        </p:nvGrpSpPr>
        <p:grpSpPr>
          <a:xfrm>
            <a:off x="0" y="921355"/>
            <a:ext cx="7986263" cy="5498088"/>
            <a:chOff x="191861" y="806981"/>
            <a:chExt cx="7986263" cy="5498088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9BCE40D6-F6E4-4E82-8E30-AD7E2F43D5BA}"/>
                </a:ext>
              </a:extLst>
            </p:cNvPr>
            <p:cNvGrpSpPr/>
            <p:nvPr/>
          </p:nvGrpSpPr>
          <p:grpSpPr>
            <a:xfrm>
              <a:off x="191861" y="806981"/>
              <a:ext cx="7986263" cy="5033301"/>
              <a:chOff x="157446" y="877769"/>
              <a:chExt cx="7986263" cy="5033301"/>
            </a:xfrm>
          </p:grpSpPr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E8E55E3B-DE2B-402F-A1DE-E866913963BE}"/>
                  </a:ext>
                </a:extLst>
              </p:cNvPr>
              <p:cNvGrpSpPr/>
              <p:nvPr/>
            </p:nvGrpSpPr>
            <p:grpSpPr>
              <a:xfrm>
                <a:off x="157446" y="1392447"/>
                <a:ext cx="7986263" cy="4518623"/>
                <a:chOff x="19216" y="2538494"/>
                <a:chExt cx="11358588" cy="6426682"/>
              </a:xfrm>
            </p:grpSpPr>
            <p:pic>
              <p:nvPicPr>
                <p:cNvPr id="48" name="图片 47">
                  <a:extLst>
                    <a:ext uri="{FF2B5EF4-FFF2-40B4-BE49-F238E27FC236}">
                      <a16:creationId xmlns:a16="http://schemas.microsoft.com/office/drawing/2014/main" id="{D5818ECE-CB66-4A17-8AFF-E40766BEE8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duotone>
                    <a:schemeClr val="accent3">
                      <a:shade val="45000"/>
                      <a:satMod val="135000"/>
                    </a:schemeClr>
                    <a:prstClr val="white"/>
                  </a:duotone>
                </a:blip>
                <a:srcRect l="1418" t="12512" r="8607" b="29424"/>
                <a:stretch>
                  <a:fillRect/>
                </a:stretch>
              </p:blipFill>
              <p:spPr>
                <a:xfrm rot="20750310">
                  <a:off x="293464" y="5092737"/>
                  <a:ext cx="11084340" cy="2419905"/>
                </a:xfrm>
                <a:prstGeom prst="rect">
                  <a:avLst/>
                </a:prstGeom>
              </p:spPr>
            </p:pic>
            <p:grpSp>
              <p:nvGrpSpPr>
                <p:cNvPr id="49" name="Group 62">
                  <a:extLst>
                    <a:ext uri="{FF2B5EF4-FFF2-40B4-BE49-F238E27FC236}">
                      <a16:creationId xmlns:a16="http://schemas.microsoft.com/office/drawing/2014/main" id="{1CE00840-3EFD-47C5-B257-BC40A112C6E4}"/>
                    </a:ext>
                  </a:extLst>
                </p:cNvPr>
                <p:cNvGrpSpPr/>
                <p:nvPr/>
              </p:nvGrpSpPr>
              <p:grpSpPr bwMode="auto">
                <a:xfrm>
                  <a:off x="8486172" y="4471078"/>
                  <a:ext cx="1809997" cy="690565"/>
                  <a:chOff x="2094" y="2364"/>
                  <a:chExt cx="1074" cy="1188"/>
                </a:xfrm>
              </p:grpSpPr>
              <p:sp>
                <p:nvSpPr>
                  <p:cNvPr id="106" name="Oval 34">
                    <a:extLst>
                      <a:ext uri="{FF2B5EF4-FFF2-40B4-BE49-F238E27FC236}">
                        <a16:creationId xmlns:a16="http://schemas.microsoft.com/office/drawing/2014/main" id="{6A5A2DB6-E692-4C8F-A229-03837E841FF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-723406">
                    <a:off x="2137" y="3132"/>
                    <a:ext cx="906" cy="420"/>
                  </a:xfrm>
                  <a:prstGeom prst="ellipse">
                    <a:avLst/>
                  </a:prstGeom>
                  <a:solidFill>
                    <a:srgbClr val="0F2145">
                      <a:alpha val="30196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</a:pPr>
                    <a:endParaRPr lang="zh-CN" altLang="en-US" sz="633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7" name="Oval 35">
                    <a:extLst>
                      <a:ext uri="{FF2B5EF4-FFF2-40B4-BE49-F238E27FC236}">
                        <a16:creationId xmlns:a16="http://schemas.microsoft.com/office/drawing/2014/main" id="{8A47E50F-8867-4865-A4BA-9A33F8100C7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094" y="2364"/>
                    <a:ext cx="1074" cy="1075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636869"/>
                      </a:gs>
                      <a:gs pos="100000">
                        <a:srgbClr val="D6E1E2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eaVert" wrap="none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</a:pPr>
                    <a:endParaRPr lang="zh-CN" altLang="en-US" sz="633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8" name="Oval 36">
                    <a:extLst>
                      <a:ext uri="{FF2B5EF4-FFF2-40B4-BE49-F238E27FC236}">
                        <a16:creationId xmlns:a16="http://schemas.microsoft.com/office/drawing/2014/main" id="{7C7E8917-8BBB-4902-BADC-D9EF76104A2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107" y="2370"/>
                    <a:ext cx="1049" cy="1048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D6E1E2">
                          <a:alpha val="0"/>
                        </a:srgbClr>
                      </a:gs>
                      <a:gs pos="100000">
                        <a:srgbClr val="F1F5F5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eaVert" wrap="none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</a:pPr>
                    <a:endParaRPr lang="zh-CN" altLang="en-US" sz="633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9" name="Oval 37">
                    <a:extLst>
                      <a:ext uri="{FF2B5EF4-FFF2-40B4-BE49-F238E27FC236}">
                        <a16:creationId xmlns:a16="http://schemas.microsoft.com/office/drawing/2014/main" id="{F40870D5-FC1A-4EB1-AEA8-50205A24E5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118" y="2380"/>
                    <a:ext cx="998" cy="980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AAB2B3"/>
                      </a:gs>
                      <a:gs pos="100000">
                        <a:srgbClr val="D6E1E2">
                          <a:alpha val="48000"/>
                        </a:srgbClr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eaVert" wrap="none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</a:pPr>
                    <a:endParaRPr lang="zh-CN" altLang="en-US" sz="633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0" name="Oval 38">
                    <a:extLst>
                      <a:ext uri="{FF2B5EF4-FFF2-40B4-BE49-F238E27FC236}">
                        <a16:creationId xmlns:a16="http://schemas.microsoft.com/office/drawing/2014/main" id="{D3EC9C94-40FD-4EA8-9A73-D446E7B133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176" y="2408"/>
                    <a:ext cx="888" cy="795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FFFFFF"/>
                      </a:gs>
                      <a:gs pos="100000">
                        <a:srgbClr val="D6E1E2">
                          <a:alpha val="37999"/>
                        </a:srgbClr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eaVert" wrap="none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</a:pPr>
                    <a:endParaRPr lang="zh-CN" altLang="en-US" sz="633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50" name="Group 62">
                  <a:extLst>
                    <a:ext uri="{FF2B5EF4-FFF2-40B4-BE49-F238E27FC236}">
                      <a16:creationId xmlns:a16="http://schemas.microsoft.com/office/drawing/2014/main" id="{E05740CF-16F3-4E45-9D49-7C7AB51F587D}"/>
                    </a:ext>
                  </a:extLst>
                </p:cNvPr>
                <p:cNvGrpSpPr/>
                <p:nvPr/>
              </p:nvGrpSpPr>
              <p:grpSpPr bwMode="auto">
                <a:xfrm>
                  <a:off x="5257138" y="5592406"/>
                  <a:ext cx="1629251" cy="621777"/>
                  <a:chOff x="2094" y="2364"/>
                  <a:chExt cx="1074" cy="1188"/>
                </a:xfrm>
              </p:grpSpPr>
              <p:sp>
                <p:nvSpPr>
                  <p:cNvPr id="101" name="Oval 34">
                    <a:extLst>
                      <a:ext uri="{FF2B5EF4-FFF2-40B4-BE49-F238E27FC236}">
                        <a16:creationId xmlns:a16="http://schemas.microsoft.com/office/drawing/2014/main" id="{3BE251A1-BCC4-4739-80A0-4F54AFCE56E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-723406">
                    <a:off x="2137" y="3132"/>
                    <a:ext cx="906" cy="420"/>
                  </a:xfrm>
                  <a:prstGeom prst="ellipse">
                    <a:avLst/>
                  </a:prstGeom>
                  <a:solidFill>
                    <a:srgbClr val="0F2145">
                      <a:alpha val="30196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</a:pPr>
                    <a:endParaRPr lang="zh-CN" altLang="en-US" sz="633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2" name="Oval 35">
                    <a:extLst>
                      <a:ext uri="{FF2B5EF4-FFF2-40B4-BE49-F238E27FC236}">
                        <a16:creationId xmlns:a16="http://schemas.microsoft.com/office/drawing/2014/main" id="{1F4D4B76-F987-4619-9325-41B8F0060FC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094" y="2364"/>
                    <a:ext cx="1074" cy="1075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636869"/>
                      </a:gs>
                      <a:gs pos="100000">
                        <a:srgbClr val="D6E1E2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eaVert" wrap="none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</a:pPr>
                    <a:endParaRPr lang="zh-CN" altLang="en-US" sz="633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3" name="Oval 36">
                    <a:extLst>
                      <a:ext uri="{FF2B5EF4-FFF2-40B4-BE49-F238E27FC236}">
                        <a16:creationId xmlns:a16="http://schemas.microsoft.com/office/drawing/2014/main" id="{AFE421E9-1E7D-472E-938B-E28D98239CB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107" y="2370"/>
                    <a:ext cx="1049" cy="1048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D6E1E2">
                          <a:alpha val="0"/>
                        </a:srgbClr>
                      </a:gs>
                      <a:gs pos="100000">
                        <a:srgbClr val="F1F5F5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eaVert" wrap="none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</a:pPr>
                    <a:endParaRPr lang="zh-CN" altLang="en-US" sz="633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4" name="Oval 37">
                    <a:extLst>
                      <a:ext uri="{FF2B5EF4-FFF2-40B4-BE49-F238E27FC236}">
                        <a16:creationId xmlns:a16="http://schemas.microsoft.com/office/drawing/2014/main" id="{2E2A9530-0F90-46C9-81CD-83AB1110B5A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118" y="2380"/>
                    <a:ext cx="998" cy="980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AAB2B3"/>
                      </a:gs>
                      <a:gs pos="100000">
                        <a:srgbClr val="D6E1E2">
                          <a:alpha val="48000"/>
                        </a:srgbClr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eaVert" wrap="none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</a:pPr>
                    <a:endParaRPr lang="zh-CN" altLang="en-US" sz="633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5" name="Oval 38">
                    <a:extLst>
                      <a:ext uri="{FF2B5EF4-FFF2-40B4-BE49-F238E27FC236}">
                        <a16:creationId xmlns:a16="http://schemas.microsoft.com/office/drawing/2014/main" id="{82B704FF-8A71-4044-9199-3FB361D28B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176" y="2456"/>
                    <a:ext cx="888" cy="795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FFFFFF"/>
                      </a:gs>
                      <a:gs pos="100000">
                        <a:srgbClr val="D6E1E2">
                          <a:alpha val="37999"/>
                        </a:srgbClr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eaVert" wrap="none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</a:pPr>
                    <a:endParaRPr lang="zh-CN" altLang="en-US" sz="633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51" name="Group 62">
                  <a:extLst>
                    <a:ext uri="{FF2B5EF4-FFF2-40B4-BE49-F238E27FC236}">
                      <a16:creationId xmlns:a16="http://schemas.microsoft.com/office/drawing/2014/main" id="{7D071529-1B07-4CB9-804A-5ADCEFCB0C12}"/>
                    </a:ext>
                  </a:extLst>
                </p:cNvPr>
                <p:cNvGrpSpPr/>
                <p:nvPr/>
              </p:nvGrpSpPr>
              <p:grpSpPr bwMode="auto">
                <a:xfrm>
                  <a:off x="3536860" y="6243333"/>
                  <a:ext cx="1445951" cy="552992"/>
                  <a:chOff x="2094" y="2364"/>
                  <a:chExt cx="1074" cy="1188"/>
                </a:xfrm>
              </p:grpSpPr>
              <p:sp>
                <p:nvSpPr>
                  <p:cNvPr id="95" name="Oval 34">
                    <a:extLst>
                      <a:ext uri="{FF2B5EF4-FFF2-40B4-BE49-F238E27FC236}">
                        <a16:creationId xmlns:a16="http://schemas.microsoft.com/office/drawing/2014/main" id="{FA8B97F9-844E-4C19-9EB7-8194C013396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-723406">
                    <a:off x="2137" y="3132"/>
                    <a:ext cx="906" cy="420"/>
                  </a:xfrm>
                  <a:prstGeom prst="ellipse">
                    <a:avLst/>
                  </a:prstGeom>
                  <a:solidFill>
                    <a:srgbClr val="0F2145">
                      <a:alpha val="30196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</a:pPr>
                    <a:endParaRPr lang="zh-CN" altLang="en-US" sz="633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6" name="Oval 35">
                    <a:extLst>
                      <a:ext uri="{FF2B5EF4-FFF2-40B4-BE49-F238E27FC236}">
                        <a16:creationId xmlns:a16="http://schemas.microsoft.com/office/drawing/2014/main" id="{1E4E21D2-2962-4A00-A51A-8C93F2A3004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094" y="2364"/>
                    <a:ext cx="1074" cy="1075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636869"/>
                      </a:gs>
                      <a:gs pos="100000">
                        <a:srgbClr val="D6E1E2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eaVert" wrap="none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</a:pPr>
                    <a:endParaRPr lang="zh-CN" altLang="en-US" sz="633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7" name="Oval 36">
                    <a:extLst>
                      <a:ext uri="{FF2B5EF4-FFF2-40B4-BE49-F238E27FC236}">
                        <a16:creationId xmlns:a16="http://schemas.microsoft.com/office/drawing/2014/main" id="{B35C8D66-992F-4FB4-A41E-0180BF4C0C4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107" y="2370"/>
                    <a:ext cx="1049" cy="1048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D6E1E2">
                          <a:alpha val="0"/>
                        </a:srgbClr>
                      </a:gs>
                      <a:gs pos="100000">
                        <a:srgbClr val="F1F5F5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eaVert" wrap="none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</a:pPr>
                    <a:endParaRPr lang="zh-CN" altLang="en-US" sz="633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8" name="Oval 37">
                    <a:extLst>
                      <a:ext uri="{FF2B5EF4-FFF2-40B4-BE49-F238E27FC236}">
                        <a16:creationId xmlns:a16="http://schemas.microsoft.com/office/drawing/2014/main" id="{CC5C0AF1-E570-48DC-86D5-7E6706642ED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118" y="2380"/>
                    <a:ext cx="998" cy="980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AAB2B3"/>
                      </a:gs>
                      <a:gs pos="100000">
                        <a:srgbClr val="D6E1E2">
                          <a:alpha val="48000"/>
                        </a:srgbClr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eaVert" wrap="none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</a:pPr>
                    <a:endParaRPr lang="zh-CN" altLang="en-US" sz="633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9" name="Oval 38">
                    <a:extLst>
                      <a:ext uri="{FF2B5EF4-FFF2-40B4-BE49-F238E27FC236}">
                        <a16:creationId xmlns:a16="http://schemas.microsoft.com/office/drawing/2014/main" id="{A4866460-D163-4056-A2E1-4B01849936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176" y="2408"/>
                    <a:ext cx="888" cy="795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FFFFFF"/>
                      </a:gs>
                      <a:gs pos="100000">
                        <a:srgbClr val="D6E1E2">
                          <a:alpha val="37999"/>
                        </a:srgbClr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eaVert" wrap="none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</a:pPr>
                    <a:endParaRPr lang="zh-CN" altLang="en-US" sz="633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0" name="Text Box 39">
                    <a:extLst>
                      <a:ext uri="{FF2B5EF4-FFF2-40B4-BE49-F238E27FC236}">
                        <a16:creationId xmlns:a16="http://schemas.microsoft.com/office/drawing/2014/main" id="{861DB352-02BE-4F83-8A9B-830104BA7F7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gray">
                  <a:xfrm>
                    <a:off x="2425" y="2475"/>
                    <a:ext cx="327" cy="6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</a:pPr>
                    <a:r>
                      <a:rPr lang="en-US" altLang="zh-CN" sz="703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4G</a:t>
                    </a:r>
                  </a:p>
                </p:txBody>
              </p:sp>
            </p:grpSp>
            <p:grpSp>
              <p:nvGrpSpPr>
                <p:cNvPr id="52" name="Group 62">
                  <a:extLst>
                    <a:ext uri="{FF2B5EF4-FFF2-40B4-BE49-F238E27FC236}">
                      <a16:creationId xmlns:a16="http://schemas.microsoft.com/office/drawing/2014/main" id="{D6583546-53E9-4870-9EA1-B8317B6769F1}"/>
                    </a:ext>
                  </a:extLst>
                </p:cNvPr>
                <p:cNvGrpSpPr/>
                <p:nvPr/>
              </p:nvGrpSpPr>
              <p:grpSpPr bwMode="auto">
                <a:xfrm>
                  <a:off x="2373803" y="6746906"/>
                  <a:ext cx="1266911" cy="543942"/>
                  <a:chOff x="2094" y="2216"/>
                  <a:chExt cx="1074" cy="1336"/>
                </a:xfrm>
              </p:grpSpPr>
              <p:sp>
                <p:nvSpPr>
                  <p:cNvPr id="89" name="Oval 34">
                    <a:extLst>
                      <a:ext uri="{FF2B5EF4-FFF2-40B4-BE49-F238E27FC236}">
                        <a16:creationId xmlns:a16="http://schemas.microsoft.com/office/drawing/2014/main" id="{276F4885-3E08-4663-AF2A-E6C3E79BB38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-723406">
                    <a:off x="2137" y="3132"/>
                    <a:ext cx="906" cy="420"/>
                  </a:xfrm>
                  <a:prstGeom prst="ellipse">
                    <a:avLst/>
                  </a:prstGeom>
                  <a:solidFill>
                    <a:srgbClr val="0F2145">
                      <a:alpha val="30196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</a:pPr>
                    <a:endParaRPr lang="zh-CN" altLang="en-US" sz="633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0" name="Oval 35">
                    <a:extLst>
                      <a:ext uri="{FF2B5EF4-FFF2-40B4-BE49-F238E27FC236}">
                        <a16:creationId xmlns:a16="http://schemas.microsoft.com/office/drawing/2014/main" id="{D7247F1B-27E0-4F5A-9C53-38A3887176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094" y="2364"/>
                    <a:ext cx="1074" cy="1075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636869"/>
                      </a:gs>
                      <a:gs pos="100000">
                        <a:srgbClr val="D6E1E2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eaVert" wrap="none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</a:pPr>
                    <a:endParaRPr lang="zh-CN" altLang="en-US" sz="633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1" name="Oval 36">
                    <a:extLst>
                      <a:ext uri="{FF2B5EF4-FFF2-40B4-BE49-F238E27FC236}">
                        <a16:creationId xmlns:a16="http://schemas.microsoft.com/office/drawing/2014/main" id="{8A396F78-8EB9-4123-AD64-669007B764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107" y="2370"/>
                    <a:ext cx="1049" cy="1048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D6E1E2">
                          <a:alpha val="0"/>
                        </a:srgbClr>
                      </a:gs>
                      <a:gs pos="100000">
                        <a:srgbClr val="F1F5F5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eaVert" wrap="none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</a:pPr>
                    <a:endParaRPr lang="zh-CN" altLang="en-US" sz="633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2" name="Oval 37">
                    <a:extLst>
                      <a:ext uri="{FF2B5EF4-FFF2-40B4-BE49-F238E27FC236}">
                        <a16:creationId xmlns:a16="http://schemas.microsoft.com/office/drawing/2014/main" id="{6172A83A-CDA0-479F-9038-9354A4E0B8E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123" y="2220"/>
                    <a:ext cx="998" cy="980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AAB2B3"/>
                      </a:gs>
                      <a:gs pos="100000">
                        <a:srgbClr val="D6E1E2">
                          <a:alpha val="48000"/>
                        </a:srgbClr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eaVert" wrap="none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</a:pPr>
                    <a:endParaRPr lang="zh-CN" altLang="en-US" sz="633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3" name="Oval 38">
                    <a:extLst>
                      <a:ext uri="{FF2B5EF4-FFF2-40B4-BE49-F238E27FC236}">
                        <a16:creationId xmlns:a16="http://schemas.microsoft.com/office/drawing/2014/main" id="{4ED0C814-BF57-48D3-B5F6-5D337E91A29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176" y="2216"/>
                    <a:ext cx="888" cy="795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FFFFFF"/>
                      </a:gs>
                      <a:gs pos="100000">
                        <a:srgbClr val="D6E1E2">
                          <a:alpha val="37999"/>
                        </a:srgbClr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eaVert" wrap="none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</a:pPr>
                    <a:endParaRPr lang="zh-CN" altLang="en-US" sz="633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4" name="Text Box 39">
                    <a:extLst>
                      <a:ext uri="{FF2B5EF4-FFF2-40B4-BE49-F238E27FC236}">
                        <a16:creationId xmlns:a16="http://schemas.microsoft.com/office/drawing/2014/main" id="{74B33A7C-7194-4E7C-AD5D-65C032CD6A6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gray">
                  <a:xfrm>
                    <a:off x="2446" y="2316"/>
                    <a:ext cx="373" cy="7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</a:pPr>
                    <a:r>
                      <a:rPr lang="en-US" altLang="zh-CN" sz="703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3G</a:t>
                    </a:r>
                  </a:p>
                </p:txBody>
              </p:sp>
            </p:grpSp>
            <p:grpSp>
              <p:nvGrpSpPr>
                <p:cNvPr id="53" name="组合 52">
                  <a:extLst>
                    <a:ext uri="{FF2B5EF4-FFF2-40B4-BE49-F238E27FC236}">
                      <a16:creationId xmlns:a16="http://schemas.microsoft.com/office/drawing/2014/main" id="{509A57C1-7035-4F05-8264-AF64E62EBA22}"/>
                    </a:ext>
                  </a:extLst>
                </p:cNvPr>
                <p:cNvGrpSpPr/>
                <p:nvPr/>
              </p:nvGrpSpPr>
              <p:grpSpPr>
                <a:xfrm>
                  <a:off x="618818" y="8024504"/>
                  <a:ext cx="989866" cy="440208"/>
                  <a:chOff x="10217760" y="2104681"/>
                  <a:chExt cx="1638880" cy="616031"/>
                </a:xfrm>
              </p:grpSpPr>
              <p:sp>
                <p:nvSpPr>
                  <p:cNvPr id="84" name="Oval 36">
                    <a:extLst>
                      <a:ext uri="{FF2B5EF4-FFF2-40B4-BE49-F238E27FC236}">
                        <a16:creationId xmlns:a16="http://schemas.microsoft.com/office/drawing/2014/main" id="{9C4ACED9-86A7-4886-8A70-D3DC3F71A9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10232590" y="2127961"/>
                    <a:ext cx="1554553" cy="532231"/>
                  </a:xfrm>
                  <a:prstGeom prst="ellipse">
                    <a:avLst/>
                  </a:prstGeom>
                  <a:solidFill>
                    <a:schemeClr val="accent3">
                      <a:lumMod val="75000"/>
                    </a:schemeClr>
                  </a:solidFill>
                  <a:ln>
                    <a:noFill/>
                  </a:ln>
                </p:spPr>
                <p:txBody>
                  <a:bodyPr vert="eaVert" wrap="none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</a:pPr>
                    <a:endParaRPr lang="zh-CN" altLang="en-US" sz="633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5" name="Oval 38">
                    <a:extLst>
                      <a:ext uri="{FF2B5EF4-FFF2-40B4-BE49-F238E27FC236}">
                        <a16:creationId xmlns:a16="http://schemas.microsoft.com/office/drawing/2014/main" id="{C7288F8F-D9FC-4CAD-AA9C-1F7F0FE70A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10334845" y="2147252"/>
                    <a:ext cx="1315961" cy="403744"/>
                  </a:xfrm>
                  <a:prstGeom prst="ellipse">
                    <a:avLst/>
                  </a:prstGeom>
                  <a:solidFill>
                    <a:schemeClr val="accent3">
                      <a:lumMod val="95000"/>
                    </a:schemeClr>
                  </a:solidFill>
                  <a:ln>
                    <a:noFill/>
                  </a:ln>
                </p:spPr>
                <p:txBody>
                  <a:bodyPr vert="eaVert" wrap="none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</a:pPr>
                    <a:endParaRPr lang="zh-CN" altLang="en-US" sz="633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6" name="Oval 34">
                    <a:extLst>
                      <a:ext uri="{FF2B5EF4-FFF2-40B4-BE49-F238E27FC236}">
                        <a16:creationId xmlns:a16="http://schemas.microsoft.com/office/drawing/2014/main" id="{9B280E2E-D400-4110-A6EE-2C47B7974EE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20876594">
                    <a:off x="10365028" y="2507413"/>
                    <a:ext cx="1415467" cy="213299"/>
                  </a:xfrm>
                  <a:prstGeom prst="ellipse">
                    <a:avLst/>
                  </a:prstGeom>
                  <a:solidFill>
                    <a:srgbClr val="0F2145">
                      <a:alpha val="30196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</a:pPr>
                    <a:endParaRPr lang="zh-CN" altLang="en-US" sz="633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7" name="Oval 36">
                    <a:extLst>
                      <a:ext uri="{FF2B5EF4-FFF2-40B4-BE49-F238E27FC236}">
                        <a16:creationId xmlns:a16="http://schemas.microsoft.com/office/drawing/2014/main" id="{FFD26F83-86B8-48E8-A9BC-BC772670E44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10217760" y="2104681"/>
                    <a:ext cx="1638880" cy="532231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D6E1E2">
                          <a:alpha val="0"/>
                        </a:srgbClr>
                      </a:gs>
                      <a:gs pos="100000">
                        <a:srgbClr val="F1F5F5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eaVert" wrap="none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</a:pPr>
                    <a:endParaRPr lang="zh-CN" altLang="en-US" sz="633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8" name="Text Box 39">
                    <a:extLst>
                      <a:ext uri="{FF2B5EF4-FFF2-40B4-BE49-F238E27FC236}">
                        <a16:creationId xmlns:a16="http://schemas.microsoft.com/office/drawing/2014/main" id="{C51ABF4B-EE57-4C20-A6C2-6B43B77F25D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gray">
                  <a:xfrm>
                    <a:off x="10510764" y="2104681"/>
                    <a:ext cx="1123994" cy="39906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</a:pPr>
                    <a:r>
                      <a:rPr lang="en-US" altLang="zh-CN" sz="703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1G</a:t>
                    </a:r>
                  </a:p>
                </p:txBody>
              </p:sp>
            </p:grpSp>
            <p:sp>
              <p:nvSpPr>
                <p:cNvPr id="54" name="文本框 50">
                  <a:extLst>
                    <a:ext uri="{FF2B5EF4-FFF2-40B4-BE49-F238E27FC236}">
                      <a16:creationId xmlns:a16="http://schemas.microsoft.com/office/drawing/2014/main" id="{E7C73D37-982E-408C-BDA5-3422101152A1}"/>
                    </a:ext>
                  </a:extLst>
                </p:cNvPr>
                <p:cNvSpPr txBox="1"/>
                <p:nvPr/>
              </p:nvSpPr>
              <p:spPr>
                <a:xfrm>
                  <a:off x="3038433" y="7464034"/>
                  <a:ext cx="875936" cy="316084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r>
                    <a:rPr lang="en-US" altLang="zh-CN" sz="844" b="1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2000’s</a:t>
                  </a:r>
                </a:p>
              </p:txBody>
            </p:sp>
            <p:sp>
              <p:nvSpPr>
                <p:cNvPr id="55" name="文本框 52">
                  <a:extLst>
                    <a:ext uri="{FF2B5EF4-FFF2-40B4-BE49-F238E27FC236}">
                      <a16:creationId xmlns:a16="http://schemas.microsoft.com/office/drawing/2014/main" id="{BC68FBA9-CACB-4195-A613-6F769637AEDE}"/>
                    </a:ext>
                  </a:extLst>
                </p:cNvPr>
                <p:cNvSpPr txBox="1"/>
                <p:nvPr/>
              </p:nvSpPr>
              <p:spPr>
                <a:xfrm>
                  <a:off x="4154326" y="7011482"/>
                  <a:ext cx="875936" cy="316084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r>
                    <a:rPr lang="en-US" altLang="zh-CN" sz="844" b="1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2010’s</a:t>
                  </a:r>
                </a:p>
              </p:txBody>
            </p:sp>
            <p:sp>
              <p:nvSpPr>
                <p:cNvPr id="56" name="文本框 53">
                  <a:extLst>
                    <a:ext uri="{FF2B5EF4-FFF2-40B4-BE49-F238E27FC236}">
                      <a16:creationId xmlns:a16="http://schemas.microsoft.com/office/drawing/2014/main" id="{8480F84C-589C-4BEC-B66A-2CD7F05ABD25}"/>
                    </a:ext>
                  </a:extLst>
                </p:cNvPr>
                <p:cNvSpPr txBox="1"/>
                <p:nvPr/>
              </p:nvSpPr>
              <p:spPr>
                <a:xfrm>
                  <a:off x="5995123" y="6312146"/>
                  <a:ext cx="875936" cy="316084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r>
                    <a:rPr lang="en-US" altLang="zh-CN" sz="844" b="1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2020’s</a:t>
                  </a:r>
                </a:p>
              </p:txBody>
            </p:sp>
            <p:sp>
              <p:nvSpPr>
                <p:cNvPr id="57" name="Text Box 39">
                  <a:extLst>
                    <a:ext uri="{FF2B5EF4-FFF2-40B4-BE49-F238E27FC236}">
                      <a16:creationId xmlns:a16="http://schemas.microsoft.com/office/drawing/2014/main" id="{DE95C8EC-5B73-4798-A5E0-44B4CEA38D4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gray">
                <a:xfrm>
                  <a:off x="9140745" y="4443058"/>
                  <a:ext cx="547632" cy="3775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</a:pPr>
                  <a:r>
                    <a:rPr lang="en-US" altLang="zh-CN" sz="1125" b="1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6G</a:t>
                  </a:r>
                </a:p>
              </p:txBody>
            </p:sp>
            <p:sp>
              <p:nvSpPr>
                <p:cNvPr id="58" name="Text Box 39">
                  <a:extLst>
                    <a:ext uri="{FF2B5EF4-FFF2-40B4-BE49-F238E27FC236}">
                      <a16:creationId xmlns:a16="http://schemas.microsoft.com/office/drawing/2014/main" id="{1DFC5BFF-1D2D-4653-8342-DB02C31F98B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gray">
                <a:xfrm>
                  <a:off x="5849262" y="5610418"/>
                  <a:ext cx="476954" cy="3160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</a:pPr>
                  <a:r>
                    <a:rPr lang="en-US" altLang="zh-CN" sz="844" b="1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5G</a:t>
                  </a:r>
                </a:p>
              </p:txBody>
            </p:sp>
            <p:grpSp>
              <p:nvGrpSpPr>
                <p:cNvPr id="59" name="Group 62">
                  <a:extLst>
                    <a:ext uri="{FF2B5EF4-FFF2-40B4-BE49-F238E27FC236}">
                      <a16:creationId xmlns:a16="http://schemas.microsoft.com/office/drawing/2014/main" id="{C0DDB8A3-F6FD-4992-AB32-7C327B84C0E2}"/>
                    </a:ext>
                  </a:extLst>
                </p:cNvPr>
                <p:cNvGrpSpPr/>
                <p:nvPr/>
              </p:nvGrpSpPr>
              <p:grpSpPr bwMode="auto">
                <a:xfrm>
                  <a:off x="1388137" y="7389101"/>
                  <a:ext cx="1082449" cy="490479"/>
                  <a:chOff x="2094" y="2216"/>
                  <a:chExt cx="1074" cy="1336"/>
                </a:xfrm>
              </p:grpSpPr>
              <p:sp>
                <p:nvSpPr>
                  <p:cNvPr id="78" name="Oval 34">
                    <a:extLst>
                      <a:ext uri="{FF2B5EF4-FFF2-40B4-BE49-F238E27FC236}">
                        <a16:creationId xmlns:a16="http://schemas.microsoft.com/office/drawing/2014/main" id="{69758DFE-8508-48D0-8A73-9A6CB5DC740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 rot="-723406">
                    <a:off x="2137" y="3132"/>
                    <a:ext cx="906" cy="420"/>
                  </a:xfrm>
                  <a:prstGeom prst="ellipse">
                    <a:avLst/>
                  </a:prstGeom>
                  <a:solidFill>
                    <a:srgbClr val="0F2145">
                      <a:alpha val="30196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</a:pPr>
                    <a:endParaRPr lang="zh-CN" altLang="en-US" sz="633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" name="Oval 35">
                    <a:extLst>
                      <a:ext uri="{FF2B5EF4-FFF2-40B4-BE49-F238E27FC236}">
                        <a16:creationId xmlns:a16="http://schemas.microsoft.com/office/drawing/2014/main" id="{BCC86ED1-E532-4F2D-BEAF-C463A2A1EF6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094" y="2364"/>
                    <a:ext cx="1074" cy="1075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636869"/>
                      </a:gs>
                      <a:gs pos="100000">
                        <a:srgbClr val="D6E1E2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eaVert" wrap="none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</a:pPr>
                    <a:endParaRPr lang="zh-CN" altLang="en-US" sz="633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0" name="Oval 36">
                    <a:extLst>
                      <a:ext uri="{FF2B5EF4-FFF2-40B4-BE49-F238E27FC236}">
                        <a16:creationId xmlns:a16="http://schemas.microsoft.com/office/drawing/2014/main" id="{7F3FB164-A977-48EA-8C61-2F3E45A444B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107" y="2370"/>
                    <a:ext cx="1049" cy="1048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D6E1E2">
                          <a:alpha val="0"/>
                        </a:srgbClr>
                      </a:gs>
                      <a:gs pos="100000">
                        <a:srgbClr val="F1F5F5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eaVert" wrap="none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</a:pPr>
                    <a:endParaRPr lang="zh-CN" altLang="en-US" sz="633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1" name="Oval 37">
                    <a:extLst>
                      <a:ext uri="{FF2B5EF4-FFF2-40B4-BE49-F238E27FC236}">
                        <a16:creationId xmlns:a16="http://schemas.microsoft.com/office/drawing/2014/main" id="{0BCFF625-6C44-47F2-81D3-153252B5F72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123" y="2220"/>
                    <a:ext cx="998" cy="980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AAB2B3"/>
                      </a:gs>
                      <a:gs pos="100000">
                        <a:srgbClr val="D6E1E2">
                          <a:alpha val="48000"/>
                        </a:srgbClr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eaVert" wrap="none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</a:pPr>
                    <a:endParaRPr lang="zh-CN" altLang="en-US" sz="633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2" name="Oval 38">
                    <a:extLst>
                      <a:ext uri="{FF2B5EF4-FFF2-40B4-BE49-F238E27FC236}">
                        <a16:creationId xmlns:a16="http://schemas.microsoft.com/office/drawing/2014/main" id="{25702CF4-0EF0-4493-962E-356007E99D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gray">
                  <a:xfrm>
                    <a:off x="2176" y="2216"/>
                    <a:ext cx="888" cy="795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FFFFFF"/>
                      </a:gs>
                      <a:gs pos="100000">
                        <a:srgbClr val="D6E1E2">
                          <a:alpha val="37999"/>
                        </a:srgbClr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eaVert" wrap="none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</a:pPr>
                    <a:endParaRPr lang="zh-CN" altLang="en-US" sz="633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" name="Text Box 39">
                    <a:extLst>
                      <a:ext uri="{FF2B5EF4-FFF2-40B4-BE49-F238E27FC236}">
                        <a16:creationId xmlns:a16="http://schemas.microsoft.com/office/drawing/2014/main" id="{2C248011-6864-446B-A4A5-FFCEB9CDB89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gray">
                  <a:xfrm>
                    <a:off x="2413" y="2316"/>
                    <a:ext cx="437" cy="7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</a:pPr>
                    <a:r>
                      <a:rPr lang="en-US" altLang="zh-CN" sz="703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2G</a:t>
                    </a:r>
                  </a:p>
                </p:txBody>
              </p:sp>
            </p:grpSp>
            <p:sp>
              <p:nvSpPr>
                <p:cNvPr id="60" name="文本框 2">
                  <a:extLst>
                    <a:ext uri="{FF2B5EF4-FFF2-40B4-BE49-F238E27FC236}">
                      <a16:creationId xmlns:a16="http://schemas.microsoft.com/office/drawing/2014/main" id="{EAF857E5-1190-4999-A2D1-9ADC01B5208A}"/>
                    </a:ext>
                  </a:extLst>
                </p:cNvPr>
                <p:cNvSpPr txBox="1"/>
                <p:nvPr/>
              </p:nvSpPr>
              <p:spPr>
                <a:xfrm>
                  <a:off x="2005101" y="8057934"/>
                  <a:ext cx="875936" cy="316084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r>
                    <a:rPr lang="en-US" altLang="zh-CN" sz="844" b="1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1990’s</a:t>
                  </a:r>
                </a:p>
              </p:txBody>
            </p:sp>
            <p:sp>
              <p:nvSpPr>
                <p:cNvPr id="61" name="文本框 53">
                  <a:extLst>
                    <a:ext uri="{FF2B5EF4-FFF2-40B4-BE49-F238E27FC236}">
                      <a16:creationId xmlns:a16="http://schemas.microsoft.com/office/drawing/2014/main" id="{919DCD8F-4542-4B70-8E54-27F880329087}"/>
                    </a:ext>
                  </a:extLst>
                </p:cNvPr>
                <p:cNvSpPr txBox="1"/>
                <p:nvPr/>
              </p:nvSpPr>
              <p:spPr>
                <a:xfrm>
                  <a:off x="9421305" y="5434331"/>
                  <a:ext cx="875936" cy="316084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r>
                    <a:rPr lang="en-US" altLang="zh-CN" sz="844" b="1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2030’s</a:t>
                  </a:r>
                </a:p>
              </p:txBody>
            </p:sp>
            <p:cxnSp>
              <p:nvCxnSpPr>
                <p:cNvPr id="62" name="直接箭头连接符 61">
                  <a:extLst>
                    <a:ext uri="{FF2B5EF4-FFF2-40B4-BE49-F238E27FC236}">
                      <a16:creationId xmlns:a16="http://schemas.microsoft.com/office/drawing/2014/main" id="{5544A4A3-2A71-4576-9467-CF1CFCF53960}"/>
                    </a:ext>
                  </a:extLst>
                </p:cNvPr>
                <p:cNvCxnSpPr/>
                <p:nvPr/>
              </p:nvCxnSpPr>
              <p:spPr bwMode="auto">
                <a:xfrm flipH="1">
                  <a:off x="7235916" y="2538494"/>
                  <a:ext cx="21445" cy="2676212"/>
                </a:xfrm>
                <a:prstGeom prst="straightConnector1">
                  <a:avLst/>
                </a:prstGeom>
                <a:solidFill>
                  <a:srgbClr val="4472C4"/>
                </a:solidFill>
                <a:ln w="19050" cap="flat" cmpd="sng" algn="ctr">
                  <a:solidFill>
                    <a:sysClr val="windowText" lastClr="000000"/>
                  </a:solidFill>
                  <a:prstDash val="dash"/>
                  <a:round/>
                  <a:headEnd type="none" w="med" len="med"/>
                  <a:tailEnd type="none" w="lg" len="lg"/>
                </a:ln>
                <a:effectLst/>
              </p:spPr>
            </p:cxnSp>
            <p:sp>
              <p:nvSpPr>
                <p:cNvPr id="63" name="文本框 2">
                  <a:extLst>
                    <a:ext uri="{FF2B5EF4-FFF2-40B4-BE49-F238E27FC236}">
                      <a16:creationId xmlns:a16="http://schemas.microsoft.com/office/drawing/2014/main" id="{157C52B2-8AF9-400F-8969-854222910E51}"/>
                    </a:ext>
                  </a:extLst>
                </p:cNvPr>
                <p:cNvSpPr txBox="1"/>
                <p:nvPr/>
              </p:nvSpPr>
              <p:spPr>
                <a:xfrm>
                  <a:off x="950167" y="8649092"/>
                  <a:ext cx="875936" cy="316084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r>
                    <a:rPr lang="en-US" altLang="zh-CN" sz="844" b="1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1980’s</a:t>
                  </a:r>
                </a:p>
              </p:txBody>
            </p:sp>
            <p:pic>
              <p:nvPicPr>
                <p:cNvPr id="64" name="图片 63">
                  <a:extLst>
                    <a:ext uri="{FF2B5EF4-FFF2-40B4-BE49-F238E27FC236}">
                      <a16:creationId xmlns:a16="http://schemas.microsoft.com/office/drawing/2014/main" id="{771E76AD-213F-4365-92F5-1AE981BF37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216" y="6308954"/>
                  <a:ext cx="1513454" cy="1645881"/>
                </a:xfrm>
                <a:prstGeom prst="rect">
                  <a:avLst/>
                </a:prstGeom>
              </p:spPr>
            </p:pic>
            <p:pic>
              <p:nvPicPr>
                <p:cNvPr id="65" name="图片 64">
                  <a:extLst>
                    <a:ext uri="{FF2B5EF4-FFF2-40B4-BE49-F238E27FC236}">
                      <a16:creationId xmlns:a16="http://schemas.microsoft.com/office/drawing/2014/main" id="{0991F73F-7EBB-49F0-923E-F04E5C1FD6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04317" y="6005800"/>
                  <a:ext cx="781995" cy="1237688"/>
                </a:xfrm>
                <a:prstGeom prst="rect">
                  <a:avLst/>
                </a:prstGeom>
              </p:spPr>
            </p:pic>
            <p:pic>
              <p:nvPicPr>
                <p:cNvPr id="66" name="图片 65">
                  <a:extLst>
                    <a:ext uri="{FF2B5EF4-FFF2-40B4-BE49-F238E27FC236}">
                      <a16:creationId xmlns:a16="http://schemas.microsoft.com/office/drawing/2014/main" id="{4F7063F8-53E7-4F5D-902A-B48EF1C2CD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258158" y="5390603"/>
                  <a:ext cx="1237688" cy="1237688"/>
                </a:xfrm>
                <a:prstGeom prst="rect">
                  <a:avLst/>
                </a:prstGeom>
              </p:spPr>
            </p:pic>
            <p:cxnSp>
              <p:nvCxnSpPr>
                <p:cNvPr id="67" name="直接箭头连接符 66">
                  <a:extLst>
                    <a:ext uri="{FF2B5EF4-FFF2-40B4-BE49-F238E27FC236}">
                      <a16:creationId xmlns:a16="http://schemas.microsoft.com/office/drawing/2014/main" id="{3A03123C-5431-49BB-AF17-1E2849FEC8E3}"/>
                    </a:ext>
                  </a:extLst>
                </p:cNvPr>
                <p:cNvCxnSpPr/>
                <p:nvPr/>
              </p:nvCxnSpPr>
              <p:spPr bwMode="auto">
                <a:xfrm flipH="1">
                  <a:off x="1321668" y="4775184"/>
                  <a:ext cx="24024" cy="2997872"/>
                </a:xfrm>
                <a:prstGeom prst="straightConnector1">
                  <a:avLst/>
                </a:prstGeom>
                <a:solidFill>
                  <a:srgbClr val="4472C4"/>
                </a:solidFill>
                <a:ln w="19050" cap="flat" cmpd="sng" algn="ctr">
                  <a:solidFill>
                    <a:sysClr val="windowText" lastClr="000000"/>
                  </a:solidFill>
                  <a:prstDash val="dash"/>
                  <a:round/>
                  <a:headEnd type="none" w="med" len="med"/>
                  <a:tailEnd type="none" w="lg" len="lg"/>
                </a:ln>
                <a:effectLst/>
              </p:spPr>
            </p:cxnSp>
            <p:pic>
              <p:nvPicPr>
                <p:cNvPr id="68" name="图片 67">
                  <a:extLst>
                    <a:ext uri="{FF2B5EF4-FFF2-40B4-BE49-F238E27FC236}">
                      <a16:creationId xmlns:a16="http://schemas.microsoft.com/office/drawing/2014/main" id="{2ACB0A52-FCEF-4043-A277-D751F3FDC5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976044" y="6124772"/>
                  <a:ext cx="566737" cy="566106"/>
                </a:xfrm>
                <a:prstGeom prst="rect">
                  <a:avLst/>
                </a:prstGeom>
              </p:spPr>
            </p:pic>
            <p:pic>
              <p:nvPicPr>
                <p:cNvPr id="69" name="图片 68">
                  <a:extLst>
                    <a:ext uri="{FF2B5EF4-FFF2-40B4-BE49-F238E27FC236}">
                      <a16:creationId xmlns:a16="http://schemas.microsoft.com/office/drawing/2014/main" id="{0E1EED5C-C50E-4B40-ADDA-8F7883E7BD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648236" y="4533477"/>
                  <a:ext cx="1169508" cy="1594082"/>
                </a:xfrm>
                <a:prstGeom prst="rect">
                  <a:avLst/>
                </a:prstGeom>
              </p:spPr>
            </p:pic>
            <p:cxnSp>
              <p:nvCxnSpPr>
                <p:cNvPr id="70" name="直接箭头连接符 69">
                  <a:extLst>
                    <a:ext uri="{FF2B5EF4-FFF2-40B4-BE49-F238E27FC236}">
                      <a16:creationId xmlns:a16="http://schemas.microsoft.com/office/drawing/2014/main" id="{DADA6229-BF9C-465A-878B-FC1BCC311155}"/>
                    </a:ext>
                  </a:extLst>
                </p:cNvPr>
                <p:cNvCxnSpPr/>
                <p:nvPr/>
              </p:nvCxnSpPr>
              <p:spPr bwMode="auto">
                <a:xfrm flipH="1">
                  <a:off x="3499538" y="3746630"/>
                  <a:ext cx="24024" cy="2997872"/>
                </a:xfrm>
                <a:prstGeom prst="straightConnector1">
                  <a:avLst/>
                </a:prstGeom>
                <a:solidFill>
                  <a:srgbClr val="4472C4"/>
                </a:solidFill>
                <a:ln w="19050" cap="flat" cmpd="sng" algn="ctr">
                  <a:solidFill>
                    <a:sysClr val="windowText" lastClr="000000"/>
                  </a:solidFill>
                  <a:prstDash val="dash"/>
                  <a:round/>
                  <a:headEnd type="none" w="med" len="med"/>
                  <a:tailEnd type="none" w="lg" len="lg"/>
                </a:ln>
                <a:effectLst/>
              </p:spPr>
            </p:cxnSp>
            <p:cxnSp>
              <p:nvCxnSpPr>
                <p:cNvPr id="71" name="直接箭头连接符 70">
                  <a:extLst>
                    <a:ext uri="{FF2B5EF4-FFF2-40B4-BE49-F238E27FC236}">
                      <a16:creationId xmlns:a16="http://schemas.microsoft.com/office/drawing/2014/main" id="{8B6D2FD2-8210-40BE-A249-16D47618EACC}"/>
                    </a:ext>
                  </a:extLst>
                </p:cNvPr>
                <p:cNvCxnSpPr/>
                <p:nvPr/>
              </p:nvCxnSpPr>
              <p:spPr bwMode="auto">
                <a:xfrm flipH="1">
                  <a:off x="5154831" y="2923952"/>
                  <a:ext cx="24698" cy="3081848"/>
                </a:xfrm>
                <a:prstGeom prst="straightConnector1">
                  <a:avLst/>
                </a:prstGeom>
                <a:solidFill>
                  <a:srgbClr val="4472C4"/>
                </a:solidFill>
                <a:ln w="19050" cap="flat" cmpd="sng" algn="ctr">
                  <a:solidFill>
                    <a:sysClr val="windowText" lastClr="000000"/>
                  </a:solidFill>
                  <a:prstDash val="dash"/>
                  <a:round/>
                  <a:headEnd type="none" w="med" len="med"/>
                  <a:tailEnd type="none" w="lg" len="lg"/>
                </a:ln>
                <a:effectLst/>
              </p:spPr>
            </p:cxnSp>
            <p:pic>
              <p:nvPicPr>
                <p:cNvPr id="72" name="图片 71">
                  <a:extLst>
                    <a:ext uri="{FF2B5EF4-FFF2-40B4-BE49-F238E27FC236}">
                      <a16:creationId xmlns:a16="http://schemas.microsoft.com/office/drawing/2014/main" id="{EB6B333D-850A-46C6-AF1A-A90D8B046F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406120" y="3539056"/>
                  <a:ext cx="1340343" cy="1892496"/>
                </a:xfrm>
                <a:prstGeom prst="rect">
                  <a:avLst/>
                </a:prstGeom>
              </p:spPr>
            </p:pic>
          </p:grp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63F5B0C1-8265-46EC-8EC4-F6F3454196D6}"/>
                  </a:ext>
                </a:extLst>
              </p:cNvPr>
              <p:cNvSpPr/>
              <p:nvPr/>
            </p:nvSpPr>
            <p:spPr>
              <a:xfrm>
                <a:off x="368455" y="3385136"/>
                <a:ext cx="646459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600" b="1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Voice</a:t>
                </a:r>
                <a:endParaRPr lang="zh-CN" altLang="en-US" sz="1600" dirty="0">
                  <a:latin typeface="Calibri" panose="020F0502020204030204" pitchFamily="34" charset="0"/>
                  <a:ea typeface="微软雅黑" panose="020B0503020204020204" pitchFamily="34" charset="-122"/>
                  <a:cs typeface="Calibri" panose="020F0502020204030204" pitchFamily="34" charset="0"/>
                </a:endParaRPr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284DD4C5-F843-4487-9111-B5735437F66F}"/>
                  </a:ext>
                </a:extLst>
              </p:cNvPr>
              <p:cNvSpPr/>
              <p:nvPr/>
            </p:nvSpPr>
            <p:spPr>
              <a:xfrm>
                <a:off x="2707820" y="2068542"/>
                <a:ext cx="939469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600" b="1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Mobile Internet</a:t>
                </a:r>
                <a:endParaRPr lang="zh-CN" altLang="en-US" sz="1600" dirty="0">
                  <a:latin typeface="Calibri" panose="020F0502020204030204" pitchFamily="34" charset="0"/>
                  <a:ea typeface="微软雅黑" panose="020B0503020204020204" pitchFamily="34" charset="-122"/>
                  <a:cs typeface="Calibri" panose="020F0502020204030204" pitchFamily="34" charset="0"/>
                </a:endParaRP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17703988-E2B3-449A-A43B-084A5274C02D}"/>
                  </a:ext>
                </a:extLst>
              </p:cNvPr>
              <p:cNvSpPr/>
              <p:nvPr/>
            </p:nvSpPr>
            <p:spPr>
              <a:xfrm>
                <a:off x="1212185" y="2889926"/>
                <a:ext cx="1189749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600" b="1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Voice + Text</a:t>
                </a:r>
                <a:endParaRPr lang="zh-CN" altLang="en-US" sz="1600" dirty="0">
                  <a:latin typeface="Calibri" panose="020F0502020204030204" pitchFamily="34" charset="0"/>
                  <a:ea typeface="微软雅黑" panose="020B0503020204020204" pitchFamily="34" charset="-122"/>
                  <a:cs typeface="Calibri" panose="020F0502020204030204" pitchFamily="34" charset="0"/>
                </a:endParaRP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C7C29BAC-2B1D-4750-B9CB-12BA1DC2F921}"/>
                  </a:ext>
                </a:extLst>
              </p:cNvPr>
              <p:cNvSpPr/>
              <p:nvPr/>
            </p:nvSpPr>
            <p:spPr>
              <a:xfrm>
                <a:off x="4003611" y="1208401"/>
                <a:ext cx="838439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600" b="1" dirty="0" err="1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eMBB</a:t>
                </a:r>
                <a:endParaRPr lang="en-US" altLang="zh-CN" sz="1600" b="1" dirty="0">
                  <a:solidFill>
                    <a:prstClr val="black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en-US" altLang="zh-CN" sz="1600" b="1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URLLC</a:t>
                </a:r>
              </a:p>
              <a:p>
                <a:pPr algn="ctr"/>
                <a:r>
                  <a:rPr lang="en-US" altLang="zh-CN" sz="1600" b="1" dirty="0" err="1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mMTC</a:t>
                </a:r>
                <a:endParaRPr lang="zh-CN" altLang="en-US" sz="1600" dirty="0">
                  <a:solidFill>
                    <a:srgbClr val="C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5298F4D3-669E-4393-8C87-D541DF9142B3}"/>
                  </a:ext>
                </a:extLst>
              </p:cNvPr>
              <p:cNvSpPr/>
              <p:nvPr/>
            </p:nvSpPr>
            <p:spPr>
              <a:xfrm>
                <a:off x="5231533" y="877769"/>
                <a:ext cx="247383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600" b="1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Digital Twin</a:t>
                </a:r>
              </a:p>
              <a:p>
                <a:pPr algn="ctr"/>
                <a:r>
                  <a:rPr lang="en-US" altLang="zh-CN" sz="1600" b="1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Agentic AI Networking</a:t>
                </a:r>
                <a:endParaRPr lang="zh-CN" altLang="en-US" sz="1600" dirty="0">
                  <a:solidFill>
                    <a:srgbClr val="C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cs typeface="Calibri" panose="020F0502020204030204" pitchFamily="34" charset="0"/>
                </a:endParaRPr>
              </a:p>
            </p:txBody>
          </p:sp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CBB21A1B-7027-4429-84BF-A52DBB42969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/>
              <a:srcRect t="12946"/>
              <a:stretch/>
            </p:blipFill>
            <p:spPr>
              <a:xfrm>
                <a:off x="5584705" y="1410445"/>
                <a:ext cx="1722673" cy="1249198"/>
              </a:xfrm>
              <a:prstGeom prst="rect">
                <a:avLst/>
              </a:prstGeom>
            </p:spPr>
          </p:pic>
        </p:grpSp>
        <p:grpSp>
          <p:nvGrpSpPr>
            <p:cNvPr id="25" name="组合 66">
              <a:extLst>
                <a:ext uri="{FF2B5EF4-FFF2-40B4-BE49-F238E27FC236}">
                  <a16:creationId xmlns:a16="http://schemas.microsoft.com/office/drawing/2014/main" id="{B413A2FC-2230-4244-9031-1E0960E95A1A}"/>
                </a:ext>
              </a:extLst>
            </p:cNvPr>
            <p:cNvGrpSpPr/>
            <p:nvPr/>
          </p:nvGrpSpPr>
          <p:grpSpPr bwMode="auto">
            <a:xfrm>
              <a:off x="2309456" y="5043123"/>
              <a:ext cx="1613715" cy="1261946"/>
              <a:chOff x="344780" y="4697141"/>
              <a:chExt cx="1579495" cy="1261318"/>
            </a:xfrm>
          </p:grpSpPr>
          <p:grpSp>
            <p:nvGrpSpPr>
              <p:cNvPr id="33" name="组合 58">
                <a:extLst>
                  <a:ext uri="{FF2B5EF4-FFF2-40B4-BE49-F238E27FC236}">
                    <a16:creationId xmlns:a16="http://schemas.microsoft.com/office/drawing/2014/main" id="{04740C49-B90A-4BF6-9D5F-5346B5552E3A}"/>
                  </a:ext>
                </a:extLst>
              </p:cNvPr>
              <p:cNvGrpSpPr/>
              <p:nvPr/>
            </p:nvGrpSpPr>
            <p:grpSpPr bwMode="auto">
              <a:xfrm>
                <a:off x="344780" y="4697141"/>
                <a:ext cx="1455052" cy="1261318"/>
                <a:chOff x="9966229" y="4827049"/>
                <a:chExt cx="1455052" cy="1356746"/>
              </a:xfrm>
            </p:grpSpPr>
            <p:sp>
              <p:nvSpPr>
                <p:cNvPr id="35" name="矩形: 圆角 34">
                  <a:extLst>
                    <a:ext uri="{FF2B5EF4-FFF2-40B4-BE49-F238E27FC236}">
                      <a16:creationId xmlns:a16="http://schemas.microsoft.com/office/drawing/2014/main" id="{304320F3-FDA8-4FC6-8667-DD94BC8D2961}"/>
                    </a:ext>
                  </a:extLst>
                </p:cNvPr>
                <p:cNvSpPr/>
                <p:nvPr/>
              </p:nvSpPr>
              <p:spPr>
                <a:xfrm>
                  <a:off x="9992235" y="4834194"/>
                  <a:ext cx="1382846" cy="1349601"/>
                </a:xfrm>
                <a:prstGeom prst="roundRect">
                  <a:avLst>
                    <a:gd name="adj" fmla="val 9017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defTabSz="457184">
                    <a:buFont typeface="Arial" panose="020B0604020202020204" pitchFamily="34" charset="0"/>
                    <a:buChar char="•"/>
                    <a:defRPr/>
                  </a:pPr>
                  <a:endParaRPr lang="zh-CN" altLang="en-US" sz="200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6" name="文本框 55">
                  <a:extLst>
                    <a:ext uri="{FF2B5EF4-FFF2-40B4-BE49-F238E27FC236}">
                      <a16:creationId xmlns:a16="http://schemas.microsoft.com/office/drawing/2014/main" id="{E1C74047-FA4F-4A60-A4ED-934812DD749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161132" y="4827049"/>
                  <a:ext cx="1032975" cy="3552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defTabSz="457184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CN" sz="1547" b="1" dirty="0">
                      <a:solidFill>
                        <a:prstClr val="white"/>
                      </a:solidFill>
                      <a:ea typeface="Calibri" panose="020F0502020204030204" pitchFamily="34" charset="0"/>
                      <a:cs typeface="Calibri" panose="020F0502020204030204" pitchFamily="34" charset="0"/>
                    </a:rPr>
                    <a:t>AI and Net</a:t>
                  </a:r>
                  <a:endParaRPr lang="zh-CN" altLang="en-US" sz="1547" b="1" dirty="0">
                    <a:solidFill>
                      <a:prstClr val="white"/>
                    </a:solidFill>
                    <a:ea typeface="微软雅黑" panose="020B0503020204020204" pitchFamily="34" charset="-122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7" name="矩形 57">
                  <a:extLst>
                    <a:ext uri="{FF2B5EF4-FFF2-40B4-BE49-F238E27FC236}">
                      <a16:creationId xmlns:a16="http://schemas.microsoft.com/office/drawing/2014/main" id="{BB6338C2-D281-425C-9A41-D7E9AD3F55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966229" y="5243366"/>
                  <a:ext cx="1455052" cy="8934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marL="285750" indent="-1079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180000" indent="-180000" defTabSz="457184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zh-CN" sz="1600" dirty="0">
                      <a:solidFill>
                        <a:prstClr val="white"/>
                      </a:solidFill>
                      <a:ea typeface="Calibri" panose="020F0502020204030204" pitchFamily="34" charset="0"/>
                      <a:cs typeface="Calibri" panose="020F0502020204030204" pitchFamily="34" charset="0"/>
                    </a:rPr>
                    <a:t>Without performance guarantee</a:t>
                  </a:r>
                </a:p>
              </p:txBody>
            </p:sp>
          </p:grp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4B0D6413-C50C-4066-8D98-31DADD200F10}"/>
                  </a:ext>
                </a:extLst>
              </p:cNvPr>
              <p:cNvCxnSpPr/>
              <p:nvPr/>
            </p:nvCxnSpPr>
            <p:spPr>
              <a:xfrm>
                <a:off x="388464" y="5051420"/>
                <a:ext cx="1535811" cy="0"/>
              </a:xfrm>
              <a:prstGeom prst="line">
                <a:avLst/>
              </a:prstGeom>
              <a:ln w="28575">
                <a:solidFill>
                  <a:schemeClr val="bg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箭头: 右 25">
              <a:extLst>
                <a:ext uri="{FF2B5EF4-FFF2-40B4-BE49-F238E27FC236}">
                  <a16:creationId xmlns:a16="http://schemas.microsoft.com/office/drawing/2014/main" id="{B5996F83-32DD-4372-9DF5-CEDBFD23658C}"/>
                </a:ext>
              </a:extLst>
            </p:cNvPr>
            <p:cNvSpPr/>
            <p:nvPr/>
          </p:nvSpPr>
          <p:spPr>
            <a:xfrm>
              <a:off x="3873616" y="5406022"/>
              <a:ext cx="311853" cy="323140"/>
            </a:xfrm>
            <a:prstGeom prst="rightArrow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66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338653BD-A9E7-4ED3-A44B-063E74DCC7C2}"/>
                </a:ext>
              </a:extLst>
            </p:cNvPr>
            <p:cNvGrpSpPr/>
            <p:nvPr/>
          </p:nvGrpSpPr>
          <p:grpSpPr>
            <a:xfrm>
              <a:off x="4307937" y="4440931"/>
              <a:ext cx="1587145" cy="1469759"/>
              <a:chOff x="4307937" y="4440931"/>
              <a:chExt cx="1587145" cy="1469759"/>
            </a:xfrm>
          </p:grpSpPr>
          <p:grpSp>
            <p:nvGrpSpPr>
              <p:cNvPr id="23" name="组合 66">
                <a:extLst>
                  <a:ext uri="{FF2B5EF4-FFF2-40B4-BE49-F238E27FC236}">
                    <a16:creationId xmlns:a16="http://schemas.microsoft.com/office/drawing/2014/main" id="{CE683FCB-38BC-4E16-84D5-0B9198A8FE0C}"/>
                  </a:ext>
                </a:extLst>
              </p:cNvPr>
              <p:cNvGrpSpPr/>
              <p:nvPr/>
            </p:nvGrpSpPr>
            <p:grpSpPr bwMode="auto">
              <a:xfrm>
                <a:off x="4307937" y="4440931"/>
                <a:ext cx="1587145" cy="1469759"/>
                <a:chOff x="370786" y="4683974"/>
                <a:chExt cx="1553489" cy="1469027"/>
              </a:xfrm>
            </p:grpSpPr>
            <p:grpSp>
              <p:nvGrpSpPr>
                <p:cNvPr id="43" name="组合 58">
                  <a:extLst>
                    <a:ext uri="{FF2B5EF4-FFF2-40B4-BE49-F238E27FC236}">
                      <a16:creationId xmlns:a16="http://schemas.microsoft.com/office/drawing/2014/main" id="{7898D2D9-3DA8-45F9-B5E7-E93A8AE9B595}"/>
                    </a:ext>
                  </a:extLst>
                </p:cNvPr>
                <p:cNvGrpSpPr/>
                <p:nvPr/>
              </p:nvGrpSpPr>
              <p:grpSpPr bwMode="auto">
                <a:xfrm>
                  <a:off x="370786" y="4683974"/>
                  <a:ext cx="1382846" cy="1469027"/>
                  <a:chOff x="9992235" y="4812887"/>
                  <a:chExt cx="1382846" cy="1580170"/>
                </a:xfrm>
              </p:grpSpPr>
              <p:sp>
                <p:nvSpPr>
                  <p:cNvPr id="45" name="矩形: 圆角 44">
                    <a:extLst>
                      <a:ext uri="{FF2B5EF4-FFF2-40B4-BE49-F238E27FC236}">
                        <a16:creationId xmlns:a16="http://schemas.microsoft.com/office/drawing/2014/main" id="{BB80217D-3C4A-4787-84ED-A6565267C3D5}"/>
                      </a:ext>
                    </a:extLst>
                  </p:cNvPr>
                  <p:cNvSpPr/>
                  <p:nvPr/>
                </p:nvSpPr>
                <p:spPr>
                  <a:xfrm>
                    <a:off x="9992235" y="4834196"/>
                    <a:ext cx="1382846" cy="1558861"/>
                  </a:xfrm>
                  <a:prstGeom prst="roundRect">
                    <a:avLst>
                      <a:gd name="adj" fmla="val 9017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defTabSz="457184">
                      <a:buFont typeface="Arial" panose="020B0604020202020204" pitchFamily="34" charset="0"/>
                      <a:buChar char="•"/>
                      <a:defRPr/>
                    </a:pPr>
                    <a:endParaRPr lang="zh-CN" altLang="en-US" sz="200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6" name="文本框 55">
                    <a:extLst>
                      <a:ext uri="{FF2B5EF4-FFF2-40B4-BE49-F238E27FC236}">
                        <a16:creationId xmlns:a16="http://schemas.microsoft.com/office/drawing/2014/main" id="{828C6EEE-34B2-4E88-AA8F-33694B406E8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213542" y="4812887"/>
                    <a:ext cx="963875" cy="36398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5pPr>
                    <a:lvl6pPr marL="2514600" indent="-228600" defTabSz="4572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6pPr>
                    <a:lvl7pPr marL="2971800" indent="-228600" defTabSz="4572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7pPr>
                    <a:lvl8pPr marL="3429000" indent="-228600" defTabSz="4572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8pPr>
                    <a:lvl9pPr marL="3886200" indent="-228600" defTabSz="4572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9pPr>
                  </a:lstStyle>
                  <a:p>
                    <a:pPr defTabSz="457184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altLang="zh-CN" sz="1600" b="1" dirty="0">
                        <a:solidFill>
                          <a:prstClr val="white"/>
                        </a:solidFill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AI</a:t>
                    </a:r>
                    <a:r>
                      <a:rPr lang="zh-CN" altLang="en-US" sz="1600" b="1" dirty="0">
                        <a:solidFill>
                          <a:prstClr val="white"/>
                        </a:solidFill>
                        <a:ea typeface="微软雅黑" panose="020B0503020204020204" pitchFamily="34" charset="-122"/>
                        <a:cs typeface="Calibri" panose="020F0502020204030204" pitchFamily="34" charset="0"/>
                      </a:rPr>
                      <a:t> </a:t>
                    </a:r>
                    <a:r>
                      <a:rPr lang="en-US" altLang="zh-CN" sz="1600" b="1" dirty="0">
                        <a:solidFill>
                          <a:prstClr val="white"/>
                        </a:solidFill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on Net</a:t>
                    </a:r>
                    <a:endParaRPr lang="zh-CN" altLang="en-US" sz="1600" b="1" dirty="0">
                      <a:solidFill>
                        <a:prstClr val="white"/>
                      </a:solidFill>
                      <a:ea typeface="微软雅黑" panose="020B0503020204020204" pitchFamily="34" charset="-122"/>
                      <a:cs typeface="Calibri" panose="020F0502020204030204" pitchFamily="34" charset="0"/>
                    </a:endParaRPr>
                  </a:p>
                </p:txBody>
              </p:sp>
            </p:grpSp>
            <p:cxnSp>
              <p:nvCxnSpPr>
                <p:cNvPr id="44" name="直接连接符 43">
                  <a:extLst>
                    <a:ext uri="{FF2B5EF4-FFF2-40B4-BE49-F238E27FC236}">
                      <a16:creationId xmlns:a16="http://schemas.microsoft.com/office/drawing/2014/main" id="{E4E05B05-3CD3-4DB9-8A42-549A65C2FB84}"/>
                    </a:ext>
                  </a:extLst>
                </p:cNvPr>
                <p:cNvCxnSpPr/>
                <p:nvPr/>
              </p:nvCxnSpPr>
              <p:spPr>
                <a:xfrm>
                  <a:off x="388464" y="5051420"/>
                  <a:ext cx="1535811" cy="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0" name="矩形 57">
                <a:extLst>
                  <a:ext uri="{FF2B5EF4-FFF2-40B4-BE49-F238E27FC236}">
                    <a16:creationId xmlns:a16="http://schemas.microsoft.com/office/drawing/2014/main" id="{C3055EA8-63DA-4032-BE3E-4D6EA399A4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604" y="4836182"/>
                <a:ext cx="1486576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285750" indent="-1079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180000" indent="-180000" defTabSz="457184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prstClr val="white"/>
                    </a:solidFill>
                    <a:ea typeface="Calibri" panose="020F0502020204030204" pitchFamily="34" charset="0"/>
                    <a:cs typeface="Calibri" panose="020F0502020204030204" pitchFamily="34" charset="0"/>
                  </a:rPr>
                  <a:t>Inefficiency</a:t>
                </a:r>
              </a:p>
              <a:p>
                <a:pPr marL="180000" indent="-180000" defTabSz="457184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prstClr val="white"/>
                    </a:solidFill>
                    <a:ea typeface="Calibri" panose="020F0502020204030204" pitchFamily="34" charset="0"/>
                    <a:cs typeface="Calibri" panose="020F0502020204030204" pitchFamily="34" charset="0"/>
                  </a:rPr>
                  <a:t>Limited applications</a:t>
                </a: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5EB355E9-D282-4A50-B71F-7238E4E80E08}"/>
                </a:ext>
              </a:extLst>
            </p:cNvPr>
            <p:cNvGrpSpPr/>
            <p:nvPr/>
          </p:nvGrpSpPr>
          <p:grpSpPr>
            <a:xfrm>
              <a:off x="6229712" y="3765397"/>
              <a:ext cx="1694136" cy="1933482"/>
              <a:chOff x="6070194" y="3749721"/>
              <a:chExt cx="1522876" cy="1933482"/>
            </a:xfrm>
          </p:grpSpPr>
          <p:grpSp>
            <p:nvGrpSpPr>
              <p:cNvPr id="24" name="组合 66">
                <a:extLst>
                  <a:ext uri="{FF2B5EF4-FFF2-40B4-BE49-F238E27FC236}">
                    <a16:creationId xmlns:a16="http://schemas.microsoft.com/office/drawing/2014/main" id="{F13C31EC-C915-4D01-9D1D-657F6B514A76}"/>
                  </a:ext>
                </a:extLst>
              </p:cNvPr>
              <p:cNvGrpSpPr/>
              <p:nvPr/>
            </p:nvGrpSpPr>
            <p:grpSpPr bwMode="auto">
              <a:xfrm>
                <a:off x="6070194" y="3749721"/>
                <a:ext cx="1503745" cy="1933482"/>
                <a:chOff x="375664" y="4819057"/>
                <a:chExt cx="1668997" cy="1287808"/>
              </a:xfrm>
            </p:grpSpPr>
            <p:grpSp>
              <p:nvGrpSpPr>
                <p:cNvPr id="38" name="组合 58">
                  <a:extLst>
                    <a:ext uri="{FF2B5EF4-FFF2-40B4-BE49-F238E27FC236}">
                      <a16:creationId xmlns:a16="http://schemas.microsoft.com/office/drawing/2014/main" id="{6D6C6918-588C-4075-A144-3D1609B2B95E}"/>
                    </a:ext>
                  </a:extLst>
                </p:cNvPr>
                <p:cNvGrpSpPr/>
                <p:nvPr/>
              </p:nvGrpSpPr>
              <p:grpSpPr bwMode="auto">
                <a:xfrm>
                  <a:off x="375664" y="4819057"/>
                  <a:ext cx="1668997" cy="1287808"/>
                  <a:chOff x="9997113" y="4958186"/>
                  <a:chExt cx="1668997" cy="1385240"/>
                </a:xfrm>
              </p:grpSpPr>
              <p:sp>
                <p:nvSpPr>
                  <p:cNvPr id="40" name="矩形: 圆角 39">
                    <a:extLst>
                      <a:ext uri="{FF2B5EF4-FFF2-40B4-BE49-F238E27FC236}">
                        <a16:creationId xmlns:a16="http://schemas.microsoft.com/office/drawing/2014/main" id="{52F907F7-09BC-44AD-A491-D2E721F95ACA}"/>
                      </a:ext>
                    </a:extLst>
                  </p:cNvPr>
                  <p:cNvSpPr/>
                  <p:nvPr/>
                </p:nvSpPr>
                <p:spPr>
                  <a:xfrm>
                    <a:off x="9997113" y="4971092"/>
                    <a:ext cx="1668997" cy="1372334"/>
                  </a:xfrm>
                  <a:prstGeom prst="roundRect">
                    <a:avLst>
                      <a:gd name="adj" fmla="val 8513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defTabSz="457184">
                      <a:buFont typeface="Arial" panose="020B0604020202020204" pitchFamily="34" charset="0"/>
                      <a:buChar char="•"/>
                      <a:defRPr/>
                    </a:pPr>
                    <a:endParaRPr lang="zh-CN" altLang="en-US" sz="200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1" name="文本框 55">
                    <a:extLst>
                      <a:ext uri="{FF2B5EF4-FFF2-40B4-BE49-F238E27FC236}">
                        <a16:creationId xmlns:a16="http://schemas.microsoft.com/office/drawing/2014/main" id="{FDA5B7F9-D696-4777-BFCD-BA10F9341C3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379485" y="4958186"/>
                    <a:ext cx="904252" cy="24255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5pPr>
                    <a:lvl6pPr marL="2514600" indent="-228600" defTabSz="4572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6pPr>
                    <a:lvl7pPr marL="2971800" indent="-228600" defTabSz="4572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7pPr>
                    <a:lvl8pPr marL="3429000" indent="-228600" defTabSz="4572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8pPr>
                    <a:lvl9pPr marL="3886200" indent="-228600" defTabSz="457200" fontAlgn="base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9pPr>
                  </a:lstStyle>
                  <a:p>
                    <a:pPr defTabSz="457184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altLang="zh-CN" sz="1600" b="1" dirty="0">
                        <a:solidFill>
                          <a:prstClr val="white"/>
                        </a:solidFill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AI</a:t>
                    </a:r>
                    <a:r>
                      <a:rPr lang="zh-CN" altLang="en-US" sz="1600" b="1" dirty="0">
                        <a:solidFill>
                          <a:prstClr val="white"/>
                        </a:solidFill>
                        <a:ea typeface="微软雅黑" panose="020B0503020204020204" pitchFamily="34" charset="-122"/>
                        <a:cs typeface="Calibri" panose="020F0502020204030204" pitchFamily="34" charset="0"/>
                      </a:rPr>
                      <a:t> </a:t>
                    </a:r>
                    <a:r>
                      <a:rPr lang="en-US" altLang="zh-CN" sz="1600" b="1" dirty="0">
                        <a:solidFill>
                          <a:prstClr val="white"/>
                        </a:solidFill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in Net</a:t>
                    </a:r>
                    <a:endParaRPr lang="zh-CN" altLang="en-US" sz="1600" b="1" dirty="0">
                      <a:solidFill>
                        <a:prstClr val="white"/>
                      </a:solidFill>
                      <a:ea typeface="微软雅黑" panose="020B0503020204020204" pitchFamily="34" charset="-122"/>
                      <a:cs typeface="Calibri" panose="020F0502020204030204" pitchFamily="34" charset="0"/>
                    </a:endParaRPr>
                  </a:p>
                </p:txBody>
              </p:sp>
            </p:grpSp>
            <p:cxnSp>
              <p:nvCxnSpPr>
                <p:cNvPr id="39" name="直接连接符 38">
                  <a:extLst>
                    <a:ext uri="{FF2B5EF4-FFF2-40B4-BE49-F238E27FC236}">
                      <a16:creationId xmlns:a16="http://schemas.microsoft.com/office/drawing/2014/main" id="{6B609642-0619-4C98-BD0C-76C6BA855F0F}"/>
                    </a:ext>
                  </a:extLst>
                </p:cNvPr>
                <p:cNvCxnSpPr/>
                <p:nvPr/>
              </p:nvCxnSpPr>
              <p:spPr>
                <a:xfrm>
                  <a:off x="388464" y="5051420"/>
                  <a:ext cx="1651319" cy="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1" name="矩形 57">
                <a:extLst>
                  <a:ext uri="{FF2B5EF4-FFF2-40B4-BE49-F238E27FC236}">
                    <a16:creationId xmlns:a16="http://schemas.microsoft.com/office/drawing/2014/main" id="{A36FBBDA-DF68-4DF7-97DB-011A7B1A23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9325" y="4106352"/>
                <a:ext cx="1503745" cy="13234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285750" indent="-1079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180000" indent="-180000" defTabSz="457184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prstClr val="white"/>
                    </a:solidFill>
                    <a:ea typeface="Calibri" panose="020F0502020204030204" pitchFamily="34" charset="0"/>
                    <a:cs typeface="Calibri" panose="020F0502020204030204" pitchFamily="34" charset="0"/>
                  </a:rPr>
                  <a:t>Efficiency</a:t>
                </a:r>
              </a:p>
              <a:p>
                <a:pPr marL="180000" indent="-180000" defTabSz="457184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prstClr val="white"/>
                    </a:solidFill>
                    <a:ea typeface="Calibri" panose="020F0502020204030204" pitchFamily="34" charset="0"/>
                    <a:cs typeface="Calibri" panose="020F0502020204030204" pitchFamily="34" charset="0"/>
                  </a:rPr>
                  <a:t>Guaranteed performance</a:t>
                </a:r>
              </a:p>
              <a:p>
                <a:pPr marL="180000" indent="-180000" defTabSz="457184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prstClr val="white"/>
                    </a:solidFill>
                    <a:ea typeface="Calibri" panose="020F0502020204030204" pitchFamily="34" charset="0"/>
                    <a:cs typeface="Calibri" panose="020F0502020204030204" pitchFamily="34" charset="0"/>
                  </a:rPr>
                  <a:t>Proactivity</a:t>
                </a:r>
              </a:p>
              <a:p>
                <a:pPr marL="180000" indent="-180000" defTabSz="457184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prstClr val="white"/>
                    </a:solidFill>
                    <a:ea typeface="Calibri" panose="020F0502020204030204" pitchFamily="34" charset="0"/>
                    <a:cs typeface="Calibri" panose="020F0502020204030204" pitchFamily="34" charset="0"/>
                  </a:rPr>
                  <a:t>Interaction</a:t>
                </a:r>
              </a:p>
            </p:txBody>
          </p:sp>
        </p:grpSp>
        <p:sp>
          <p:nvSpPr>
            <p:cNvPr id="122" name="箭头: 右 121">
              <a:extLst>
                <a:ext uri="{FF2B5EF4-FFF2-40B4-BE49-F238E27FC236}">
                  <a16:creationId xmlns:a16="http://schemas.microsoft.com/office/drawing/2014/main" id="{29BA8155-EBF2-4B5A-A692-98E0ACCA1CBC}"/>
                </a:ext>
              </a:extLst>
            </p:cNvPr>
            <p:cNvSpPr/>
            <p:nvPr/>
          </p:nvSpPr>
          <p:spPr>
            <a:xfrm>
              <a:off x="5822102" y="4808560"/>
              <a:ext cx="311853" cy="323140"/>
            </a:xfrm>
            <a:prstGeom prst="rightArrow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66"/>
            </a:p>
          </p:txBody>
        </p:sp>
      </p:grp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38B4CF2A-2F7B-489C-AFC9-162BD998C130}"/>
              </a:ext>
            </a:extLst>
          </p:cNvPr>
          <p:cNvGrpSpPr/>
          <p:nvPr/>
        </p:nvGrpSpPr>
        <p:grpSpPr>
          <a:xfrm>
            <a:off x="7959386" y="1132864"/>
            <a:ext cx="4138414" cy="5122964"/>
            <a:chOff x="7979717" y="1227625"/>
            <a:chExt cx="4138414" cy="5122964"/>
          </a:xfrm>
        </p:grpSpPr>
        <p:grpSp>
          <p:nvGrpSpPr>
            <p:cNvPr id="124" name="组合 123">
              <a:extLst>
                <a:ext uri="{FF2B5EF4-FFF2-40B4-BE49-F238E27FC236}">
                  <a16:creationId xmlns:a16="http://schemas.microsoft.com/office/drawing/2014/main" id="{B6B8134C-1210-441B-9486-2B1AF70BCD5E}"/>
                </a:ext>
              </a:extLst>
            </p:cNvPr>
            <p:cNvGrpSpPr/>
            <p:nvPr/>
          </p:nvGrpSpPr>
          <p:grpSpPr>
            <a:xfrm>
              <a:off x="8027784" y="4177558"/>
              <a:ext cx="4090347" cy="2173031"/>
              <a:chOff x="6627661" y="3485988"/>
              <a:chExt cx="5240487" cy="2173031"/>
            </a:xfrm>
          </p:grpSpPr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3752B512-14AA-49AF-A0F7-6113BDE9377A}"/>
                  </a:ext>
                </a:extLst>
              </p:cNvPr>
              <p:cNvSpPr txBox="1"/>
              <p:nvPr/>
            </p:nvSpPr>
            <p:spPr>
              <a:xfrm>
                <a:off x="6627661" y="3947653"/>
                <a:ext cx="5240487" cy="17113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Perceive dynamic environments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Execute autonomous decision-making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it-IT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Refine operational strategies via continuous collaboration</a:t>
                </a:r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4657D4A3-4B82-43CF-878A-03302CD03043}"/>
                  </a:ext>
                </a:extLst>
              </p:cNvPr>
              <p:cNvSpPr txBox="1"/>
              <p:nvPr/>
            </p:nvSpPr>
            <p:spPr>
              <a:xfrm>
                <a:off x="6732436" y="3485988"/>
                <a:ext cx="460788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C00000"/>
                    </a:solidFill>
                  </a:rPr>
                  <a:t>Agentic AI Networks (AgentNet):</a:t>
                </a:r>
                <a:endParaRPr lang="zh-CN" altLang="en-US" sz="2000" b="1" dirty="0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D62F5D4D-ED43-406A-931A-0DA2C85A25F2}"/>
                </a:ext>
              </a:extLst>
            </p:cNvPr>
            <p:cNvGrpSpPr/>
            <p:nvPr/>
          </p:nvGrpSpPr>
          <p:grpSpPr>
            <a:xfrm>
              <a:off x="7979717" y="1227625"/>
              <a:ext cx="3782455" cy="2173031"/>
              <a:chOff x="6627662" y="1428636"/>
              <a:chExt cx="5240487" cy="2173031"/>
            </a:xfrm>
          </p:grpSpPr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950687CA-6681-4481-88C3-5699C497EDBC}"/>
                  </a:ext>
                </a:extLst>
              </p:cNvPr>
              <p:cNvSpPr txBox="1"/>
              <p:nvPr/>
            </p:nvSpPr>
            <p:spPr>
              <a:xfrm>
                <a:off x="6627662" y="1890301"/>
                <a:ext cx="5240487" cy="17113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Calibri" panose="020F0502020204030204" pitchFamily="34" charset="0"/>
                  <a:buChar char="×"/>
                </a:pPr>
                <a:r>
                  <a:rPr lang="en-US" altLang="zh-CN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Passive learning framework</a:t>
                </a:r>
              </a:p>
              <a:p>
                <a:pPr marL="285750" indent="-285750">
                  <a:lnSpc>
                    <a:spcPct val="150000"/>
                  </a:lnSpc>
                  <a:buFont typeface="Calibri" panose="020F0502020204030204" pitchFamily="34" charset="0"/>
                  <a:buChar char="×"/>
                </a:pPr>
                <a:r>
                  <a:rPr lang="en-US" altLang="zh-CN" dirty="0">
                    <a:solidFill>
                      <a:srgbClr val="111133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AI-induced network congestion</a:t>
                </a:r>
              </a:p>
              <a:p>
                <a:pPr marL="285750" indent="-285750">
                  <a:lnSpc>
                    <a:spcPct val="150000"/>
                  </a:lnSpc>
                  <a:buFont typeface="Calibri" panose="020F0502020204030204" pitchFamily="34" charset="0"/>
                  <a:buChar char="×"/>
                </a:pPr>
                <a:r>
                  <a:rPr lang="en-US" altLang="zh-CN" dirty="0">
                    <a:solidFill>
                      <a:srgbClr val="111133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Data privacy leakage risk</a:t>
                </a:r>
              </a:p>
              <a:p>
                <a:pPr marL="285750" indent="-285750">
                  <a:lnSpc>
                    <a:spcPct val="150000"/>
                  </a:lnSpc>
                  <a:buFont typeface="Calibri" panose="020F0502020204030204" pitchFamily="34" charset="0"/>
                  <a:buChar char="×"/>
                </a:pPr>
                <a:r>
                  <a:rPr lang="en-US" altLang="zh-CN" dirty="0">
                    <a:solidFill>
                      <a:srgbClr val="111133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Without performance guarantee</a:t>
                </a:r>
              </a:p>
            </p:txBody>
          </p:sp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B04B147B-6320-4CE7-A4A1-0E7D59AD9780}"/>
                  </a:ext>
                </a:extLst>
              </p:cNvPr>
              <p:cNvSpPr txBox="1"/>
              <p:nvPr/>
            </p:nvSpPr>
            <p:spPr>
              <a:xfrm>
                <a:off x="6732436" y="1428636"/>
                <a:ext cx="494688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C00000"/>
                    </a:solidFill>
                  </a:rPr>
                  <a:t>AI + Communication Networks:</a:t>
                </a:r>
                <a:endParaRPr lang="zh-CN" altLang="en-US" sz="2000" b="1" dirty="0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130" name="箭头: 右 129">
              <a:extLst>
                <a:ext uri="{FF2B5EF4-FFF2-40B4-BE49-F238E27FC236}">
                  <a16:creationId xmlns:a16="http://schemas.microsoft.com/office/drawing/2014/main" id="{3ADC7D9F-0AD1-4019-908F-216488B780C8}"/>
                </a:ext>
              </a:extLst>
            </p:cNvPr>
            <p:cNvSpPr/>
            <p:nvPr/>
          </p:nvSpPr>
          <p:spPr>
            <a:xfrm rot="5400000">
              <a:off x="9534401" y="3554256"/>
              <a:ext cx="448230" cy="463545"/>
            </a:xfrm>
            <a:prstGeom prst="rightArrow">
              <a:avLst/>
            </a:prstGeom>
            <a:effectLst>
              <a:glow rad="1016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66"/>
            </a:p>
          </p:txBody>
        </p:sp>
      </p:grpSp>
    </p:spTree>
    <p:extLst>
      <p:ext uri="{BB962C8B-B14F-4D97-AF65-F5344CB8AC3E}">
        <p14:creationId xmlns:p14="http://schemas.microsoft.com/office/powerpoint/2010/main" val="456165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442977-DB24-40E5-883A-4D296B77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sz="3230"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等线 Light" panose="02010600030101010101" pitchFamily="2" charset="-122"/>
                <a:cs typeface="Calibri" panose="020F0502020204030204" pitchFamily="34" charset="0"/>
              </a:rPr>
              <a:t>Motivation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9F1C5F2-6AB6-4216-B991-F5E65D840935}"/>
              </a:ext>
            </a:extLst>
          </p:cNvPr>
          <p:cNvSpPr txBox="1"/>
          <p:nvPr/>
        </p:nvSpPr>
        <p:spPr>
          <a:xfrm>
            <a:off x="1866048" y="5423385"/>
            <a:ext cx="9010651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i="1" dirty="0">
                <a:solidFill>
                  <a:srgbClr val="C00000"/>
                </a:solidFill>
                <a:effectLst/>
                <a:ea typeface="+mj-ea"/>
              </a:rPr>
              <a:t>How can we effectively balance the tradeoff between generalization and personalization in agentic AI networking?</a:t>
            </a:r>
            <a:endParaRPr lang="en-US" altLang="zh-CN" sz="2400" b="1" i="1" dirty="0">
              <a:solidFill>
                <a:srgbClr val="C00000"/>
              </a:solidFill>
              <a:ea typeface="+mj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E688690-16AA-467F-B167-A0FAA39477CD}"/>
              </a:ext>
            </a:extLst>
          </p:cNvPr>
          <p:cNvSpPr txBox="1"/>
          <p:nvPr/>
        </p:nvSpPr>
        <p:spPr>
          <a:xfrm>
            <a:off x="540008" y="1460336"/>
            <a:ext cx="5904080" cy="3368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44546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Two critical metrics for agentic AI networking: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000" b="1" i="1" u="sng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Generalization:</a:t>
            </a:r>
            <a:r>
              <a:rPr lang="en-US" altLang="zh-CN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ensures each agent can apply  previously learned knowledge or skills across diverse, unseen  tasks and environments.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000" b="1" i="1" u="sng" dirty="0">
                <a:solidFill>
                  <a:srgbClr val="0070C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Personalization:</a:t>
            </a:r>
            <a:r>
              <a:rPr lang="en-US" altLang="zh-CN" sz="2000" dirty="0">
                <a:solidFill>
                  <a:srgbClr val="0070C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ea typeface="微软雅黑" panose="020B0503020204020204" pitchFamily="34" charset="-122"/>
                <a:cs typeface="Arial" panose="020B0604020202020204" pitchFamily="34" charset="0"/>
              </a:rPr>
              <a:t>allows the agent to tailor its behavior, responses, or decision-making to  individual users’ personal preferences.</a:t>
            </a:r>
            <a:endParaRPr lang="zh-CN" altLang="en-US" sz="2000" dirty="0"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4AF77098-F09A-4AE3-B82B-30A9D77B4811}"/>
              </a:ext>
            </a:extLst>
          </p:cNvPr>
          <p:cNvGrpSpPr/>
          <p:nvPr/>
        </p:nvGrpSpPr>
        <p:grpSpPr>
          <a:xfrm>
            <a:off x="6708576" y="1395429"/>
            <a:ext cx="4200162" cy="3191192"/>
            <a:chOff x="6757776" y="1451828"/>
            <a:chExt cx="4200162" cy="3191192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579B786E-9EC9-47AC-9A6B-F344609557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57776" y="1451828"/>
              <a:ext cx="4200162" cy="2520097"/>
            </a:xfrm>
            <a:prstGeom prst="rect">
              <a:avLst/>
            </a:prstGeom>
          </p:spPr>
        </p:pic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E2554D21-B31B-4D4B-9030-F7816112FCAC}"/>
                </a:ext>
              </a:extLst>
            </p:cNvPr>
            <p:cNvCxnSpPr>
              <a:cxnSpLocks/>
            </p:cNvCxnSpPr>
            <p:nvPr/>
          </p:nvCxnSpPr>
          <p:spPr>
            <a:xfrm>
              <a:off x="9439275" y="2219325"/>
              <a:ext cx="0" cy="1466850"/>
            </a:xfrm>
            <a:prstGeom prst="line">
              <a:avLst/>
            </a:prstGeom>
            <a:ln w="285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左大括号 18">
              <a:extLst>
                <a:ext uri="{FF2B5EF4-FFF2-40B4-BE49-F238E27FC236}">
                  <a16:creationId xmlns:a16="http://schemas.microsoft.com/office/drawing/2014/main" id="{607010EE-9172-4983-A8BE-E3E82D4515CF}"/>
                </a:ext>
              </a:extLst>
            </p:cNvPr>
            <p:cNvSpPr/>
            <p:nvPr/>
          </p:nvSpPr>
          <p:spPr>
            <a:xfrm rot="16200000">
              <a:off x="8316283" y="3090384"/>
              <a:ext cx="144780" cy="1667829"/>
            </a:xfrm>
            <a:prstGeom prst="leftBrace">
              <a:avLst>
                <a:gd name="adj1" fmla="val 77411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4CC12251-4389-4DC8-B08C-78436F127D4B}"/>
                </a:ext>
              </a:extLst>
            </p:cNvPr>
            <p:cNvSpPr txBox="1"/>
            <p:nvPr/>
          </p:nvSpPr>
          <p:spPr>
            <a:xfrm>
              <a:off x="7619242" y="3996689"/>
              <a:ext cx="153886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 dirty="0"/>
                <a:t>Seen Agents</a:t>
              </a:r>
              <a:endParaRPr lang="zh-CN" altLang="en-US" sz="1400" b="1" dirty="0"/>
            </a:p>
          </p:txBody>
        </p:sp>
        <p:sp>
          <p:nvSpPr>
            <p:cNvPr id="22" name="左大括号 21">
              <a:extLst>
                <a:ext uri="{FF2B5EF4-FFF2-40B4-BE49-F238E27FC236}">
                  <a16:creationId xmlns:a16="http://schemas.microsoft.com/office/drawing/2014/main" id="{440C6E6F-909F-493D-B108-82F1B4BCC6EC}"/>
                </a:ext>
              </a:extLst>
            </p:cNvPr>
            <p:cNvSpPr/>
            <p:nvPr/>
          </p:nvSpPr>
          <p:spPr>
            <a:xfrm rot="16200000">
              <a:off x="10043643" y="3411850"/>
              <a:ext cx="144780" cy="1024898"/>
            </a:xfrm>
            <a:prstGeom prst="leftBrace">
              <a:avLst>
                <a:gd name="adj1" fmla="val 77411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252B6D42-0214-4F51-9614-325E0E194172}"/>
                </a:ext>
              </a:extLst>
            </p:cNvPr>
            <p:cNvSpPr txBox="1"/>
            <p:nvPr/>
          </p:nvSpPr>
          <p:spPr>
            <a:xfrm>
              <a:off x="9346602" y="4002660"/>
              <a:ext cx="153886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 dirty="0"/>
                <a:t>Unseen Agents</a:t>
              </a:r>
              <a:endParaRPr lang="zh-CN" altLang="en-US" sz="1400" b="1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29881F95-E045-4354-AE38-0D3BB4FA83F1}"/>
                </a:ext>
              </a:extLst>
            </p:cNvPr>
            <p:cNvSpPr txBox="1"/>
            <p:nvPr/>
          </p:nvSpPr>
          <p:spPr>
            <a:xfrm>
              <a:off x="7030582" y="4304466"/>
              <a:ext cx="349611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i="1" dirty="0"/>
                <a:t>* A1 represents Agent 1, and so on</a:t>
              </a:r>
              <a:endParaRPr lang="zh-CN" altLang="en-US" sz="1600" i="1" dirty="0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DEB34CAA-782B-4D09-B832-6F12B1F9EF77}"/>
              </a:ext>
            </a:extLst>
          </p:cNvPr>
          <p:cNvGrpSpPr/>
          <p:nvPr/>
        </p:nvGrpSpPr>
        <p:grpSpPr>
          <a:xfrm>
            <a:off x="6634407" y="4729009"/>
            <a:ext cx="4814002" cy="733561"/>
            <a:chOff x="6539798" y="4480672"/>
            <a:chExt cx="4814002" cy="733561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FDCCA17-CAAA-4F64-9E71-7EFA5885DD40}"/>
                </a:ext>
              </a:extLst>
            </p:cNvPr>
            <p:cNvGrpSpPr/>
            <p:nvPr/>
          </p:nvGrpSpPr>
          <p:grpSpPr>
            <a:xfrm>
              <a:off x="6539798" y="4480672"/>
              <a:ext cx="4814002" cy="400110"/>
              <a:chOff x="6964823" y="4487112"/>
              <a:chExt cx="4814002" cy="400110"/>
            </a:xfrm>
          </p:grpSpPr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755E621C-B313-4781-B24D-70D01E9EF11D}"/>
                  </a:ext>
                </a:extLst>
              </p:cNvPr>
              <p:cNvSpPr txBox="1"/>
              <p:nvPr/>
            </p:nvSpPr>
            <p:spPr>
              <a:xfrm>
                <a:off x="9632805" y="4487112"/>
                <a:ext cx="21460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0070C0"/>
                    </a:solidFill>
                    <a:ea typeface="微软雅黑" panose="020B0503020204020204" pitchFamily="34" charset="-122"/>
                    <a:cs typeface="Arial" panose="020B0604020202020204" pitchFamily="34" charset="0"/>
                  </a:rPr>
                  <a:t>Personalization</a:t>
                </a:r>
                <a:endParaRPr lang="zh-CN" altLang="en-US" sz="2000" b="1" dirty="0">
                  <a:solidFill>
                    <a:srgbClr val="0070C0"/>
                  </a:solidFill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46CFD95A-C284-4B7A-AFC6-BAF08723048B}"/>
                  </a:ext>
                </a:extLst>
              </p:cNvPr>
              <p:cNvSpPr txBox="1"/>
              <p:nvPr/>
            </p:nvSpPr>
            <p:spPr>
              <a:xfrm>
                <a:off x="6964823" y="4487112"/>
                <a:ext cx="176078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2000" b="1" dirty="0">
                    <a:solidFill>
                      <a:srgbClr val="FF0000"/>
                    </a:solidFill>
                    <a:ea typeface="微软雅黑" panose="020B0503020204020204" pitchFamily="34" charset="-122"/>
                    <a:cs typeface="Arial" panose="020B0604020202020204" pitchFamily="34" charset="0"/>
                  </a:rPr>
                  <a:t>Generalization</a:t>
                </a:r>
                <a:endParaRPr lang="zh-CN" altLang="en-US" sz="2000" b="1" dirty="0">
                  <a:solidFill>
                    <a:srgbClr val="FF0000"/>
                  </a:solidFill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8" name="箭头: 左右 37">
                <a:extLst>
                  <a:ext uri="{FF2B5EF4-FFF2-40B4-BE49-F238E27FC236}">
                    <a16:creationId xmlns:a16="http://schemas.microsoft.com/office/drawing/2014/main" id="{33E2BCE6-EA60-4DFC-A8B4-1CBCA24D9490}"/>
                  </a:ext>
                </a:extLst>
              </p:cNvPr>
              <p:cNvSpPr/>
              <p:nvPr/>
            </p:nvSpPr>
            <p:spPr>
              <a:xfrm>
                <a:off x="8860363" y="4511876"/>
                <a:ext cx="657080" cy="307777"/>
              </a:xfrm>
              <a:prstGeom prst="leftRightArrow">
                <a:avLst/>
              </a:prstGeom>
              <a:solidFill>
                <a:srgbClr val="E1CCF0"/>
              </a:solidFill>
              <a:ln w="190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2DF4DEF-8B73-4BA9-8843-8A4554524FF8}"/>
                </a:ext>
              </a:extLst>
            </p:cNvPr>
            <p:cNvSpPr txBox="1"/>
            <p:nvPr/>
          </p:nvSpPr>
          <p:spPr>
            <a:xfrm>
              <a:off x="8222313" y="4844901"/>
              <a:ext cx="108312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b="1" dirty="0">
                  <a:ea typeface="微软雅黑" panose="020B0503020204020204" pitchFamily="34" charset="-122"/>
                  <a:cs typeface="Arial" panose="020B0604020202020204" pitchFamily="34" charset="0"/>
                </a:rPr>
                <a:t>Conflict</a:t>
              </a:r>
              <a:endParaRPr lang="zh-CN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669697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442977-DB24-40E5-883A-4D296B77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sz="3230"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等线 Light" panose="02010600030101010101" pitchFamily="2" charset="-122"/>
                <a:cs typeface="Calibri" panose="020F0502020204030204" pitchFamily="34" charset="0"/>
              </a:rPr>
              <a:t>Key Contributions</a:t>
            </a:r>
            <a:endParaRPr lang="zh-CN" altLang="en-US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22AC99CD-CA0C-4DA1-878D-FB873B353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4300"/>
            <a:ext cx="10956533" cy="4792663"/>
          </a:xfrm>
        </p:spPr>
        <p:txBody>
          <a:bodyPr>
            <a:normAutofit/>
          </a:bodyPr>
          <a:lstStyle/>
          <a:p>
            <a:pPr marL="360000" indent="-3600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zh-CN" sz="2400" dirty="0"/>
              <a:t>Propose a meta learning-based agentic AI networking framework (MAN) to strike an effective balance between global generalization and local personalization</a:t>
            </a:r>
          </a:p>
          <a:p>
            <a:pPr marL="360000" indent="-3600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zh-CN" sz="2400" dirty="0"/>
              <a:t>Derive asymptotic theoretical bounds for generalization and personalization errors of MAN respectively</a:t>
            </a:r>
          </a:p>
          <a:p>
            <a:pPr marL="360000" indent="-3600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zh-CN" sz="2400" dirty="0"/>
              <a:t>Conduct extensive measurements on real-world dataset to demonstrate  that proposed MAN can improve the tradeoff between personalization and generalization in various environments and application scenarios.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85850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5DE6C54-FD1E-4696-871B-32C788369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4406" y="522287"/>
            <a:ext cx="7723188" cy="92551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Outline</a:t>
            </a:r>
          </a:p>
        </p:txBody>
      </p:sp>
      <p:sp>
        <p:nvSpPr>
          <p:cNvPr id="7" name="Introduction…">
            <a:extLst>
              <a:ext uri="{FF2B5EF4-FFF2-40B4-BE49-F238E27FC236}">
                <a16:creationId xmlns:a16="http://schemas.microsoft.com/office/drawing/2014/main" id="{2DE8D281-7E89-4066-BCF6-A14571FF8F69}"/>
              </a:ext>
            </a:extLst>
          </p:cNvPr>
          <p:cNvSpPr txBox="1">
            <a:spLocks/>
          </p:cNvSpPr>
          <p:nvPr/>
        </p:nvSpPr>
        <p:spPr>
          <a:xfrm>
            <a:off x="930644" y="1751120"/>
            <a:ext cx="9442716" cy="472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990">
              <a:lnSpc>
                <a:spcPct val="150000"/>
              </a:lnSpc>
              <a:spcBef>
                <a:spcPts val="1100"/>
              </a:spcBef>
              <a:buFont typeface="Wingdings" panose="05000000000000000000" pitchFamily="2" charset="2"/>
              <a:buChar char="p"/>
              <a:defRPr sz="3230"/>
            </a:pPr>
            <a:r>
              <a:rPr lang="en-US" altLang="zh-CN" sz="3200" b="1" dirty="0">
                <a:latin typeface="Calibri" panose="020F0502020204030204" pitchFamily="34" charset="0"/>
                <a:cs typeface="Calibri" panose="020F0502020204030204" pitchFamily="34" charset="0"/>
              </a:rPr>
              <a:t>Background and Motivation</a:t>
            </a:r>
            <a:endParaRPr lang="en-US" altLang="zh-CN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554990">
              <a:lnSpc>
                <a:spcPct val="150000"/>
              </a:lnSpc>
              <a:spcBef>
                <a:spcPts val="1100"/>
              </a:spcBef>
              <a:buFont typeface="Wingdings" panose="05000000000000000000" pitchFamily="2" charset="2"/>
              <a:buChar char="p"/>
              <a:defRPr sz="3230"/>
            </a:pPr>
            <a:r>
              <a:rPr lang="en-US" altLang="zh-CN" sz="3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Model &amp; Problem Formulation</a:t>
            </a:r>
          </a:p>
          <a:p>
            <a:pPr defTabSz="554990">
              <a:lnSpc>
                <a:spcPct val="150000"/>
              </a:lnSpc>
              <a:spcBef>
                <a:spcPts val="1100"/>
              </a:spcBef>
              <a:buFont typeface="Wingdings" panose="05000000000000000000" pitchFamily="2" charset="2"/>
              <a:buChar char="p"/>
              <a:defRPr sz="3230"/>
            </a:pPr>
            <a:r>
              <a:rPr lang="en-US" altLang="zh-CN" sz="3200" b="1" dirty="0">
                <a:latin typeface="Calibri" panose="020F0502020204030204" pitchFamily="34" charset="0"/>
                <a:cs typeface="Calibri" panose="020F0502020204030204" pitchFamily="34" charset="0"/>
              </a:rPr>
              <a:t>Workflow of MAN</a:t>
            </a:r>
          </a:p>
          <a:p>
            <a:pPr defTabSz="554990">
              <a:lnSpc>
                <a:spcPct val="150000"/>
              </a:lnSpc>
              <a:spcBef>
                <a:spcPts val="1100"/>
              </a:spcBef>
              <a:buFont typeface="Wingdings" panose="05000000000000000000" pitchFamily="2" charset="2"/>
              <a:buChar char="p"/>
              <a:defRPr sz="3230"/>
            </a:pPr>
            <a:r>
              <a:rPr lang="en-US" altLang="zh-CN" sz="3200" b="1" dirty="0">
                <a:latin typeface="Calibri" panose="020F0502020204030204" pitchFamily="34" charset="0"/>
                <a:cs typeface="Calibri" panose="020F0502020204030204" pitchFamily="34" charset="0"/>
              </a:rPr>
              <a:t>Theoretical &amp; Experimental Results</a:t>
            </a:r>
          </a:p>
          <a:p>
            <a:pPr defTabSz="554990">
              <a:lnSpc>
                <a:spcPct val="150000"/>
              </a:lnSpc>
              <a:spcBef>
                <a:spcPts val="1100"/>
              </a:spcBef>
              <a:buFont typeface="Wingdings" panose="05000000000000000000" pitchFamily="2" charset="2"/>
              <a:buChar char="p"/>
              <a:defRPr sz="3230"/>
            </a:pPr>
            <a:r>
              <a:rPr lang="en-US" altLang="zh-CN" sz="3200" b="1" dirty="0">
                <a:latin typeface="Calibri" panose="020F0502020204030204" pitchFamily="34" charset="0"/>
                <a:cs typeface="Calibri" panose="020F0502020204030204" pitchFamily="34" charset="0"/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2894789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917"/>
    </mc:Choice>
    <mc:Fallback xmlns="">
      <p:transition spd="slow" advTm="1491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570FDEE2-18E3-4CC8-86E2-80DC414B1F28}"/>
              </a:ext>
            </a:extLst>
          </p:cNvPr>
          <p:cNvGrpSpPr/>
          <p:nvPr/>
        </p:nvGrpSpPr>
        <p:grpSpPr>
          <a:xfrm>
            <a:off x="742081" y="1285320"/>
            <a:ext cx="5636109" cy="4987026"/>
            <a:chOff x="742081" y="1285320"/>
            <a:chExt cx="5636109" cy="4987026"/>
          </a:xfrm>
        </p:grpSpPr>
        <p:pic>
          <p:nvPicPr>
            <p:cNvPr id="160" name="图片 159">
              <a:extLst>
                <a:ext uri="{FF2B5EF4-FFF2-40B4-BE49-F238E27FC236}">
                  <a16:creationId xmlns:a16="http://schemas.microsoft.com/office/drawing/2014/main" id="{04581BC8-F4EA-46B7-8511-339CC5358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2081" y="1853135"/>
              <a:ext cx="5443054" cy="4318505"/>
            </a:xfrm>
            <a:prstGeom prst="rect">
              <a:avLst/>
            </a:prstGeom>
          </p:spPr>
        </p:pic>
        <p:sp>
          <p:nvSpPr>
            <p:cNvPr id="161" name="矩形: 圆角 160">
              <a:extLst>
                <a:ext uri="{FF2B5EF4-FFF2-40B4-BE49-F238E27FC236}">
                  <a16:creationId xmlns:a16="http://schemas.microsoft.com/office/drawing/2014/main" id="{EC220C08-53B9-469F-89FE-144C6E9DE6D2}"/>
                </a:ext>
              </a:extLst>
            </p:cNvPr>
            <p:cNvSpPr/>
            <p:nvPr/>
          </p:nvSpPr>
          <p:spPr>
            <a:xfrm>
              <a:off x="742082" y="1575243"/>
              <a:ext cx="5636108" cy="4697103"/>
            </a:xfrm>
            <a:prstGeom prst="roundRect">
              <a:avLst>
                <a:gd name="adj" fmla="val 8039"/>
              </a:avLst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DF92EB01-2863-49A5-951D-5607DF763D4F}"/>
                </a:ext>
              </a:extLst>
            </p:cNvPr>
            <p:cNvSpPr/>
            <p:nvPr/>
          </p:nvSpPr>
          <p:spPr>
            <a:xfrm>
              <a:off x="1756236" y="1285320"/>
              <a:ext cx="3607800" cy="461665"/>
            </a:xfrm>
            <a:prstGeom prst="rect">
              <a:avLst/>
            </a:prstGeom>
            <a:solidFill>
              <a:srgbClr val="4472C4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MAN Architecture</a:t>
              </a:r>
              <a:endParaRPr lang="zh-CN" altLang="en-US" sz="2400" b="1" dirty="0">
                <a:solidFill>
                  <a:schemeClr val="bg1"/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26442977-DB24-40E5-883A-4D296B77C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52257" cy="80094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sz="3230"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等线 Light" panose="02010600030101010101" pitchFamily="2" charset="-122"/>
                <a:cs typeface="Calibri" panose="020F0502020204030204" pitchFamily="34" charset="0"/>
              </a:rPr>
              <a:t>System Model</a:t>
            </a:r>
            <a:endParaRPr lang="zh-CN" altLang="en-US" dirty="0"/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49B38E6B-CA29-4B0A-8B41-EAA6FC4A7024}"/>
              </a:ext>
            </a:extLst>
          </p:cNvPr>
          <p:cNvSpPr txBox="1"/>
          <p:nvPr/>
        </p:nvSpPr>
        <p:spPr>
          <a:xfrm>
            <a:off x="6774197" y="1633219"/>
            <a:ext cx="41550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cs typeface="Times New Roman" panose="02020603050405020304" pitchFamily="18" charset="0"/>
              </a:rPr>
              <a:t>Foundation models </a:t>
            </a:r>
            <a:r>
              <a:rPr lang="en-US" altLang="zh-CN" dirty="0">
                <a:cs typeface="Times New Roman" panose="02020603050405020304" pitchFamily="18" charset="0"/>
              </a:rPr>
              <a:t>are deployed at the cloud targeting at different tasks and constructed and maintained by all agents for </a:t>
            </a:r>
            <a:r>
              <a:rPr lang="en-US" altLang="zh-CN" b="1" dirty="0">
                <a:solidFill>
                  <a:srgbClr val="C00000"/>
                </a:solidFill>
                <a:cs typeface="Times New Roman" panose="02020603050405020304" pitchFamily="18" charset="0"/>
              </a:rPr>
              <a:t>better generalization capability</a:t>
            </a:r>
            <a:r>
              <a:rPr lang="en-US" altLang="zh-CN" dirty="0">
                <a:cs typeface="Times New Roman" panose="02020603050405020304" pitchFamily="18" charset="0"/>
              </a:rPr>
              <a:t>.</a:t>
            </a:r>
            <a:endParaRPr lang="zh-CN" altLang="en-US" dirty="0">
              <a:cs typeface="Times New Roman" panose="02020603050405020304" pitchFamily="18" charset="0"/>
            </a:endParaRPr>
          </a:p>
        </p:txBody>
      </p: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F27C6631-F867-4EA6-B225-1CE8EEA63979}"/>
              </a:ext>
            </a:extLst>
          </p:cNvPr>
          <p:cNvCxnSpPr>
            <a:cxnSpLocks/>
            <a:endCxn id="142" idx="1"/>
          </p:cNvCxnSpPr>
          <p:nvPr/>
        </p:nvCxnSpPr>
        <p:spPr>
          <a:xfrm>
            <a:off x="4778829" y="2233382"/>
            <a:ext cx="1995368" cy="2"/>
          </a:xfrm>
          <a:prstGeom prst="straightConnector1">
            <a:avLst/>
          </a:prstGeom>
          <a:ln w="28575">
            <a:solidFill>
              <a:srgbClr val="4472C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文本框 145">
            <a:extLst>
              <a:ext uri="{FF2B5EF4-FFF2-40B4-BE49-F238E27FC236}">
                <a16:creationId xmlns:a16="http://schemas.microsoft.com/office/drawing/2014/main" id="{9949A651-B276-431C-A969-A9507361B732}"/>
              </a:ext>
            </a:extLst>
          </p:cNvPr>
          <p:cNvSpPr txBox="1"/>
          <p:nvPr/>
        </p:nvSpPr>
        <p:spPr>
          <a:xfrm>
            <a:off x="6841672" y="3378122"/>
            <a:ext cx="31187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cs typeface="Times New Roman" panose="02020603050405020304" pitchFamily="18" charset="0"/>
              </a:rPr>
              <a:t>The environment of each agent </a:t>
            </a:r>
            <a:r>
              <a:rPr lang="en-US" altLang="zh-CN" b="1" dirty="0">
                <a:solidFill>
                  <a:srgbClr val="C00000"/>
                </a:solidFill>
                <a:cs typeface="Times New Roman" panose="02020603050405020304" pitchFamily="18" charset="0"/>
              </a:rPr>
              <a:t>change</a:t>
            </a:r>
            <a:r>
              <a:rPr lang="en-US" altLang="zh-CN" dirty="0">
                <a:cs typeface="Times New Roman" panose="02020603050405020304" pitchFamily="18" charset="0"/>
              </a:rPr>
              <a:t> with time.</a:t>
            </a:r>
            <a:endParaRPr lang="zh-CN" altLang="en-US" dirty="0">
              <a:cs typeface="Times New Roman" panose="02020603050405020304" pitchFamily="18" charset="0"/>
            </a:endParaRPr>
          </a:p>
        </p:txBody>
      </p: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C1009896-D42E-48E7-853F-6300168066BE}"/>
              </a:ext>
            </a:extLst>
          </p:cNvPr>
          <p:cNvCxnSpPr>
            <a:cxnSpLocks/>
            <a:endCxn id="146" idx="1"/>
          </p:cNvCxnSpPr>
          <p:nvPr/>
        </p:nvCxnSpPr>
        <p:spPr>
          <a:xfrm>
            <a:off x="6008915" y="3701288"/>
            <a:ext cx="832757" cy="0"/>
          </a:xfrm>
          <a:prstGeom prst="straightConnector1">
            <a:avLst/>
          </a:prstGeom>
          <a:ln w="28575">
            <a:solidFill>
              <a:srgbClr val="4472C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0953D291-511D-4C56-9604-F455BD7DC6AE}"/>
              </a:ext>
            </a:extLst>
          </p:cNvPr>
          <p:cNvCxnSpPr>
            <a:cxnSpLocks/>
            <a:endCxn id="158" idx="1"/>
          </p:cNvCxnSpPr>
          <p:nvPr/>
        </p:nvCxnSpPr>
        <p:spPr>
          <a:xfrm>
            <a:off x="4191000" y="4803615"/>
            <a:ext cx="2650672" cy="0"/>
          </a:xfrm>
          <a:prstGeom prst="straightConnector1">
            <a:avLst/>
          </a:prstGeom>
          <a:ln w="28575">
            <a:solidFill>
              <a:srgbClr val="4472C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文本框 157">
            <a:extLst>
              <a:ext uri="{FF2B5EF4-FFF2-40B4-BE49-F238E27FC236}">
                <a16:creationId xmlns:a16="http://schemas.microsoft.com/office/drawing/2014/main" id="{45C03A3E-0B85-4CDF-B9EB-D2C23A9628A2}"/>
              </a:ext>
            </a:extLst>
          </p:cNvPr>
          <p:cNvSpPr txBox="1"/>
          <p:nvPr/>
        </p:nvSpPr>
        <p:spPr>
          <a:xfrm>
            <a:off x="6841672" y="4341950"/>
            <a:ext cx="41550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cs typeface="Times New Roman" panose="02020603050405020304" pitchFamily="18" charset="0"/>
              </a:rPr>
              <a:t>Each agent </a:t>
            </a:r>
            <a:r>
              <a:rPr lang="en-US" altLang="zh-CN" b="1" dirty="0">
                <a:solidFill>
                  <a:srgbClr val="C00000"/>
                </a:solidFill>
                <a:cs typeface="Times New Roman" panose="02020603050405020304" pitchFamily="18" charset="0"/>
              </a:rPr>
              <a:t>finetune the meta-model </a:t>
            </a:r>
            <a:r>
              <a:rPr lang="en-US" altLang="zh-CN" dirty="0">
                <a:cs typeface="Times New Roman" panose="02020603050405020304" pitchFamily="18" charset="0"/>
              </a:rPr>
              <a:t>according to its local dataset to enhance the </a:t>
            </a:r>
            <a:r>
              <a:rPr lang="en-US" altLang="zh-CN" b="1" dirty="0">
                <a:solidFill>
                  <a:srgbClr val="C00000"/>
                </a:solidFill>
                <a:cs typeface="Times New Roman" panose="02020603050405020304" pitchFamily="18" charset="0"/>
              </a:rPr>
              <a:t>personalization performance</a:t>
            </a:r>
            <a:r>
              <a:rPr lang="en-US" altLang="zh-CN" dirty="0">
                <a:cs typeface="Times New Roman" panose="02020603050405020304" pitchFamily="18" charset="0"/>
              </a:rPr>
              <a:t>.</a:t>
            </a:r>
            <a:endParaRPr lang="zh-CN" alt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248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442977-DB24-40E5-883A-4D296B77C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52257" cy="80094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sz="3230"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等线 Light" panose="02010600030101010101" pitchFamily="2" charset="-122"/>
                <a:cs typeface="Calibri" panose="020F0502020204030204" pitchFamily="34" charset="0"/>
              </a:rPr>
              <a:t>System Model</a:t>
            </a:r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1F90A38-D2E1-4A96-B863-6EE9058F0320}"/>
              </a:ext>
            </a:extLst>
          </p:cNvPr>
          <p:cNvGrpSpPr/>
          <p:nvPr/>
        </p:nvGrpSpPr>
        <p:grpSpPr>
          <a:xfrm>
            <a:off x="742081" y="1285320"/>
            <a:ext cx="5636109" cy="4987026"/>
            <a:chOff x="742081" y="1285320"/>
            <a:chExt cx="5636109" cy="4987026"/>
          </a:xfrm>
        </p:grpSpPr>
        <p:pic>
          <p:nvPicPr>
            <p:cNvPr id="99" name="图片 98">
              <a:extLst>
                <a:ext uri="{FF2B5EF4-FFF2-40B4-BE49-F238E27FC236}">
                  <a16:creationId xmlns:a16="http://schemas.microsoft.com/office/drawing/2014/main" id="{1A07E18D-41B8-47C8-8C41-24257B35FC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2081" y="1853135"/>
              <a:ext cx="5443054" cy="4318505"/>
            </a:xfrm>
            <a:prstGeom prst="rect">
              <a:avLst/>
            </a:prstGeom>
          </p:spPr>
        </p:pic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FA61E8BB-EB12-4AF5-A59A-629BD12D658D}"/>
                </a:ext>
              </a:extLst>
            </p:cNvPr>
            <p:cNvSpPr/>
            <p:nvPr/>
          </p:nvSpPr>
          <p:spPr>
            <a:xfrm>
              <a:off x="742082" y="1575243"/>
              <a:ext cx="5636108" cy="4697103"/>
            </a:xfrm>
            <a:prstGeom prst="roundRect">
              <a:avLst>
                <a:gd name="adj" fmla="val 8039"/>
              </a:avLst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68CB7631-4F74-4FC6-ADE5-FF50252606BF}"/>
                </a:ext>
              </a:extLst>
            </p:cNvPr>
            <p:cNvSpPr/>
            <p:nvPr/>
          </p:nvSpPr>
          <p:spPr>
            <a:xfrm>
              <a:off x="1756236" y="1285320"/>
              <a:ext cx="3607800" cy="461665"/>
            </a:xfrm>
            <a:prstGeom prst="rect">
              <a:avLst/>
            </a:prstGeom>
            <a:solidFill>
              <a:srgbClr val="4472C4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MAN Architecture</a:t>
              </a:r>
              <a:endParaRPr lang="zh-CN" altLang="en-US" sz="2400" b="1" dirty="0">
                <a:solidFill>
                  <a:schemeClr val="bg1"/>
                </a:solidFill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BC966FAE-DFE1-42DF-80B3-F7AE96E68CF8}"/>
              </a:ext>
            </a:extLst>
          </p:cNvPr>
          <p:cNvGrpSpPr/>
          <p:nvPr/>
        </p:nvGrpSpPr>
        <p:grpSpPr>
          <a:xfrm>
            <a:off x="6718818" y="1285320"/>
            <a:ext cx="4966996" cy="4981583"/>
            <a:chOff x="6718818" y="1285320"/>
            <a:chExt cx="4966996" cy="4981583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B75E51F9-F19C-4A15-887C-CCD19AFD3FDF}"/>
                </a:ext>
              </a:extLst>
            </p:cNvPr>
            <p:cNvSpPr/>
            <p:nvPr/>
          </p:nvSpPr>
          <p:spPr>
            <a:xfrm>
              <a:off x="6718818" y="1569800"/>
              <a:ext cx="4966996" cy="4697103"/>
            </a:xfrm>
            <a:prstGeom prst="roundRect">
              <a:avLst>
                <a:gd name="adj" fmla="val 8039"/>
              </a:avLst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A46557DB-FB48-4D49-A242-91AACC6BD0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70914" y="1847692"/>
              <a:ext cx="4757273" cy="4338990"/>
            </a:xfrm>
            <a:prstGeom prst="rect">
              <a:avLst/>
            </a:prstGeom>
          </p:spPr>
        </p:pic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E85F702C-36AA-4F30-A458-EAAAC68D773E}"/>
                </a:ext>
              </a:extLst>
            </p:cNvPr>
            <p:cNvSpPr/>
            <p:nvPr/>
          </p:nvSpPr>
          <p:spPr>
            <a:xfrm>
              <a:off x="7398416" y="1285320"/>
              <a:ext cx="3607800" cy="461665"/>
            </a:xfrm>
            <a:prstGeom prst="rect">
              <a:avLst/>
            </a:prstGeom>
            <a:solidFill>
              <a:srgbClr val="4472C4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Key Procedures</a:t>
              </a:r>
              <a:endParaRPr lang="zh-CN" altLang="en-US" sz="2400" b="1" dirty="0">
                <a:solidFill>
                  <a:schemeClr val="bg1"/>
                </a:solidFill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0531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442977-DB24-40E5-883A-4D296B77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sz="3230"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等线 Light" panose="02010600030101010101" pitchFamily="2" charset="-122"/>
                <a:cs typeface="Calibri" panose="020F0502020204030204" pitchFamily="34" charset="0"/>
              </a:rPr>
              <a:t>Problem Formulation</a:t>
            </a:r>
            <a:endParaRPr lang="zh-CN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5AD07A6-BAF0-4011-A197-2AD0F341546A}"/>
              </a:ext>
            </a:extLst>
          </p:cNvPr>
          <p:cNvSpPr/>
          <p:nvPr/>
        </p:nvSpPr>
        <p:spPr>
          <a:xfrm>
            <a:off x="669038" y="1319760"/>
            <a:ext cx="10985412" cy="313249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508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8672C01-ED64-4F9B-AFF2-2F7D15F9F353}"/>
              </a:ext>
            </a:extLst>
          </p:cNvPr>
          <p:cNvSpPr/>
          <p:nvPr/>
        </p:nvSpPr>
        <p:spPr>
          <a:xfrm>
            <a:off x="659009" y="1904999"/>
            <a:ext cx="10995441" cy="25472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101600" dir="5400000" sx="11000" sy="11000" algn="ctr" rotWithShape="0">
              <a:schemeClr val="bg1">
                <a:lumMod val="50000"/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4DED330-20BB-4621-91D4-24ACB4C7AD36}"/>
              </a:ext>
            </a:extLst>
          </p:cNvPr>
          <p:cNvSpPr txBox="1"/>
          <p:nvPr/>
        </p:nvSpPr>
        <p:spPr>
          <a:xfrm>
            <a:off x="830600" y="1381548"/>
            <a:ext cx="7262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Definition1 (Generalization Error)</a:t>
            </a:r>
            <a:endParaRPr lang="zh-CN" altLang="en-US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E004B81-4C43-4F40-B06B-4F28EE8249DB}"/>
              </a:ext>
            </a:extLst>
          </p:cNvPr>
          <p:cNvGrpSpPr/>
          <p:nvPr/>
        </p:nvGrpSpPr>
        <p:grpSpPr>
          <a:xfrm>
            <a:off x="893915" y="1979968"/>
            <a:ext cx="10515600" cy="2275319"/>
            <a:chOff x="838200" y="2380829"/>
            <a:chExt cx="10515600" cy="22753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4F71159-D916-41B0-B6E3-80FD3502452D}"/>
                    </a:ext>
                  </a:extLst>
                </p:cNvPr>
                <p:cNvSpPr txBox="1"/>
                <p:nvPr/>
              </p:nvSpPr>
              <p:spPr>
                <a:xfrm>
                  <a:off x="838200" y="2380829"/>
                  <a:ext cx="10515600" cy="14198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zh-CN" dirty="0"/>
                    <a:t>Define the generalization error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ℰ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𝑔𝑒𝑛</m:t>
                          </m:r>
                        </m:sub>
                      </m:sSub>
                    </m:oMath>
                  </a14:m>
                  <a:r>
                    <a:rPr lang="en-US" altLang="zh-CN" dirty="0"/>
                    <a:t> of all the agents as the overall performance discrepancy between the loss obtained by model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</m:oMath>
                  </a14:m>
                  <a:r>
                    <a:rPr lang="zh-CN" altLang="en-US" dirty="0"/>
                    <a:t> </a:t>
                  </a:r>
                  <a:r>
                    <a:rPr lang="en-US" altLang="zh-CN" dirty="0"/>
                    <a:t>trained based on the dataset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altLang="zh-CN" dirty="0"/>
                    <a:t>, denoted as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dirty="0"/>
                    <a:t>, and that developed based on the ground truth distribution of the environmental state, denoted as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dirty="0"/>
                    <a:t>, given by</a:t>
                  </a:r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4F71159-D916-41B0-B6E3-80FD350245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2380829"/>
                  <a:ext cx="10515600" cy="1419876"/>
                </a:xfrm>
                <a:prstGeom prst="rect">
                  <a:avLst/>
                </a:prstGeom>
                <a:blipFill>
                  <a:blip r:embed="rId3"/>
                  <a:stretch>
                    <a:fillRect l="-522" b="-47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9E6401D8-6C5D-4C9C-AD63-33266C15F905}"/>
                    </a:ext>
                  </a:extLst>
                </p:cNvPr>
                <p:cNvSpPr txBox="1"/>
                <p:nvPr/>
              </p:nvSpPr>
              <p:spPr>
                <a:xfrm>
                  <a:off x="3116464" y="3891643"/>
                  <a:ext cx="5949043" cy="7645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ℰ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𝑔𝑒𝑛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≔</m:t>
                        </m:r>
                        <m:f>
                          <m:f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  <m:nary>
                          <m:naryPr>
                            <m:chr m:val="∑"/>
                            <m:supHide m:val="on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zh-C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zh-CN" alt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𝒦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𝔼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𝒟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ℒ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sSubSup>
                                  <m:sSub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p>
                                    </m:sSub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𝒟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nary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9E6401D8-6C5D-4C9C-AD63-33266C15F9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6464" y="3891643"/>
                  <a:ext cx="5949043" cy="76450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4064ADB6-DECF-4B24-8830-258763A0E6CC}"/>
              </a:ext>
            </a:extLst>
          </p:cNvPr>
          <p:cNvSpPr txBox="1"/>
          <p:nvPr/>
        </p:nvSpPr>
        <p:spPr>
          <a:xfrm>
            <a:off x="938329" y="5156270"/>
            <a:ext cx="10315342" cy="734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To improve generalization performance, it requires to learn common patterns and  features from a wide range of diverse datasets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ABA33D5B-4514-4719-9F00-E9B59DB53559}"/>
                  </a:ext>
                </a:extLst>
              </p:cNvPr>
              <p:cNvSpPr txBox="1"/>
              <p:nvPr/>
            </p:nvSpPr>
            <p:spPr>
              <a:xfrm>
                <a:off x="938329" y="4606326"/>
                <a:ext cx="10315342" cy="4018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b="1" dirty="0">
                    <a:solidFill>
                      <a:srgbClr val="C00000"/>
                    </a:solidFill>
                  </a:rPr>
                  <a:t>*Notation:</a:t>
                </a:r>
                <a:r>
                  <a:rPr lang="zh-CN" altLang="en-US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dirty="0">
                    <a:solidFill>
                      <a:srgbClr val="C00000"/>
                    </a:solidFill>
                  </a:rPr>
                  <a:t> - index of task;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>
                    <a:solidFill>
                      <a:srgbClr val="C00000"/>
                    </a:solidFill>
                  </a:rPr>
                  <a:t> - index of agent;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dirty="0">
                    <a:solidFill>
                      <a:srgbClr val="C00000"/>
                    </a:solidFill>
                  </a:rPr>
                  <a:t> - time slot</a:t>
                </a: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ABA33D5B-4514-4719-9F00-E9B59DB535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329" y="4606326"/>
                <a:ext cx="10315342" cy="401841"/>
              </a:xfrm>
              <a:prstGeom prst="rect">
                <a:avLst/>
              </a:prstGeom>
              <a:blipFill>
                <a:blip r:embed="rId5"/>
                <a:stretch>
                  <a:fillRect l="-532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9762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442977-DB24-40E5-883A-4D296B77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sz="3230"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等线 Light" panose="02010600030101010101" pitchFamily="2" charset="-122"/>
                <a:cs typeface="Calibri" panose="020F0502020204030204" pitchFamily="34" charset="0"/>
              </a:rPr>
              <a:t>Problem Formulation</a:t>
            </a:r>
            <a:endParaRPr lang="zh-CN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5AD07A6-BAF0-4011-A197-2AD0F341546A}"/>
              </a:ext>
            </a:extLst>
          </p:cNvPr>
          <p:cNvSpPr/>
          <p:nvPr/>
        </p:nvSpPr>
        <p:spPr>
          <a:xfrm>
            <a:off x="669038" y="1319761"/>
            <a:ext cx="10985412" cy="28494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508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8672C01-ED64-4F9B-AFF2-2F7D15F9F353}"/>
              </a:ext>
            </a:extLst>
          </p:cNvPr>
          <p:cNvSpPr/>
          <p:nvPr/>
        </p:nvSpPr>
        <p:spPr>
          <a:xfrm>
            <a:off x="659009" y="1905000"/>
            <a:ext cx="10995441" cy="226423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101600" dir="5400000" sx="11000" sy="11000" algn="ctr" rotWithShape="0">
              <a:schemeClr val="bg1">
                <a:lumMod val="50000"/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4DED330-20BB-4621-91D4-24ACB4C7AD36}"/>
              </a:ext>
            </a:extLst>
          </p:cNvPr>
          <p:cNvSpPr txBox="1"/>
          <p:nvPr/>
        </p:nvSpPr>
        <p:spPr>
          <a:xfrm>
            <a:off x="830600" y="1381548"/>
            <a:ext cx="7262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Definition2 (Personalization Error)</a:t>
            </a:r>
            <a:endParaRPr lang="zh-CN" altLang="en-US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E004B81-4C43-4F40-B06B-4F28EE8249DB}"/>
              </a:ext>
            </a:extLst>
          </p:cNvPr>
          <p:cNvGrpSpPr/>
          <p:nvPr/>
        </p:nvGrpSpPr>
        <p:grpSpPr>
          <a:xfrm>
            <a:off x="893915" y="1979968"/>
            <a:ext cx="10515600" cy="1921311"/>
            <a:chOff x="838200" y="2380829"/>
            <a:chExt cx="10515600" cy="19213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4F71159-D916-41B0-B6E3-80FD3502452D}"/>
                    </a:ext>
                  </a:extLst>
                </p:cNvPr>
                <p:cNvSpPr txBox="1"/>
                <p:nvPr/>
              </p:nvSpPr>
              <p:spPr>
                <a:xfrm>
                  <a:off x="838200" y="2380829"/>
                  <a:ext cx="10515600" cy="135652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zh-CN" dirty="0"/>
                    <a:t>Suppose that for each agent </a:t>
                  </a:r>
                  <a14:m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en-US" altLang="zh-CN" dirty="0"/>
                    <a:t>, there exists a locally optimal model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a14:m>
                  <a:r>
                    <a:rPr lang="en-US" altLang="zh-CN" dirty="0"/>
                    <a:t>. We assume each agent </a:t>
                  </a:r>
                  <a14:m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zh-CN" altLang="en-US" dirty="0"/>
                    <a:t> </a:t>
                  </a:r>
                  <a:r>
                    <a:rPr lang="en-US" altLang="zh-CN" dirty="0"/>
                    <a:t>can adopt a personalization solution, denoted as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dirty="0"/>
                    <a:t> </a:t>
                  </a:r>
                  <a:r>
                    <a:rPr lang="en-US" altLang="zh-CN" dirty="0"/>
                    <a:t>where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</m:oMath>
                  </a14:m>
                  <a:r>
                    <a:rPr lang="zh-CN" altLang="en-US" dirty="0"/>
                    <a:t> </a:t>
                  </a:r>
                  <a:r>
                    <a:rPr lang="en-US" altLang="zh-CN" dirty="0"/>
                    <a:t>denotes the foundation model obtained from the agent controller at the beginning of time slot </a:t>
                  </a:r>
                  <a14:m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a14:m>
                  <a:r>
                    <a:rPr lang="en-US" altLang="zh-CN" dirty="0"/>
                    <a:t> for task </a:t>
                  </a:r>
                  <a14:m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a14:m>
                  <a:r>
                    <a:rPr lang="en-US" altLang="zh-CN" dirty="0"/>
                    <a:t>. Define the personalization error as</a:t>
                  </a:r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4F71159-D916-41B0-B6E3-80FD350245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2380829"/>
                  <a:ext cx="10515600" cy="1356525"/>
                </a:xfrm>
                <a:prstGeom prst="rect">
                  <a:avLst/>
                </a:prstGeom>
                <a:blipFill>
                  <a:blip r:embed="rId3"/>
                  <a:stretch>
                    <a:fillRect l="-522" r="-174" b="-63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9E6401D8-6C5D-4C9C-AD63-33266C15F905}"/>
                    </a:ext>
                  </a:extLst>
                </p:cNvPr>
                <p:cNvSpPr txBox="1"/>
                <p:nvPr/>
              </p:nvSpPr>
              <p:spPr>
                <a:xfrm>
                  <a:off x="3116464" y="3891643"/>
                  <a:ext cx="5949043" cy="4104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ℰ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𝑝𝑒𝑟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≔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0,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𝒟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9E6401D8-6C5D-4C9C-AD63-33266C15F9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6464" y="3891643"/>
                  <a:ext cx="5949043" cy="410497"/>
                </a:xfrm>
                <a:prstGeom prst="rect">
                  <a:avLst/>
                </a:prstGeom>
                <a:blipFill>
                  <a:blip r:embed="rId4"/>
                  <a:stretch>
                    <a:fillRect b="-74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4064ADB6-DECF-4B24-8830-258763A0E6CC}"/>
              </a:ext>
            </a:extLst>
          </p:cNvPr>
          <p:cNvSpPr txBox="1"/>
          <p:nvPr/>
        </p:nvSpPr>
        <p:spPr>
          <a:xfrm>
            <a:off x="938329" y="5077789"/>
            <a:ext cx="10315342" cy="734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To enhance the personalization capability, it requires the model focus on the unique preferences and personalized behaviors of a single agent.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60598F5-2CF0-41A3-A707-A0781703A424}"/>
                  </a:ext>
                </a:extLst>
              </p:cNvPr>
              <p:cNvSpPr txBox="1"/>
              <p:nvPr/>
            </p:nvSpPr>
            <p:spPr>
              <a:xfrm>
                <a:off x="938329" y="4606326"/>
                <a:ext cx="10315342" cy="4018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b="1" dirty="0">
                    <a:solidFill>
                      <a:srgbClr val="C00000"/>
                    </a:solidFill>
                  </a:rPr>
                  <a:t>*Notation:</a:t>
                </a:r>
                <a:r>
                  <a:rPr lang="zh-CN" altLang="en-US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dirty="0">
                    <a:solidFill>
                      <a:srgbClr val="C00000"/>
                    </a:solidFill>
                  </a:rPr>
                  <a:t> - index of task;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>
                    <a:solidFill>
                      <a:srgbClr val="C00000"/>
                    </a:solidFill>
                  </a:rPr>
                  <a:t> - index of agent;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dirty="0">
                    <a:solidFill>
                      <a:srgbClr val="C00000"/>
                    </a:solidFill>
                  </a:rPr>
                  <a:t> - time slot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60598F5-2CF0-41A3-A707-A0781703A4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329" y="4606326"/>
                <a:ext cx="10315342" cy="401841"/>
              </a:xfrm>
              <a:prstGeom prst="rect">
                <a:avLst/>
              </a:prstGeom>
              <a:blipFill>
                <a:blip r:embed="rId5"/>
                <a:stretch>
                  <a:fillRect l="-532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7260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442977-DB24-40E5-883A-4D296B77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sz="3230"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等线 Light" panose="02010600030101010101" pitchFamily="2" charset="-122"/>
                <a:cs typeface="Calibri" panose="020F0502020204030204" pitchFamily="34" charset="0"/>
              </a:rPr>
              <a:t>Problem Formulation</a:t>
            </a:r>
            <a:endParaRPr lang="zh-CN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5AD07A6-BAF0-4011-A197-2AD0F341546A}"/>
              </a:ext>
            </a:extLst>
          </p:cNvPr>
          <p:cNvSpPr/>
          <p:nvPr/>
        </p:nvSpPr>
        <p:spPr>
          <a:xfrm>
            <a:off x="608308" y="1278488"/>
            <a:ext cx="10985412" cy="352999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508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8672C01-ED64-4F9B-AFF2-2F7D15F9F353}"/>
              </a:ext>
            </a:extLst>
          </p:cNvPr>
          <p:cNvSpPr/>
          <p:nvPr/>
        </p:nvSpPr>
        <p:spPr>
          <a:xfrm>
            <a:off x="598279" y="1897118"/>
            <a:ext cx="10995441" cy="29113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4DED330-20BB-4621-91D4-24ACB4C7AD36}"/>
              </a:ext>
            </a:extLst>
          </p:cNvPr>
          <p:cNvSpPr txBox="1"/>
          <p:nvPr/>
        </p:nvSpPr>
        <p:spPr>
          <a:xfrm>
            <a:off x="729335" y="1356971"/>
            <a:ext cx="59313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Main Objective</a:t>
            </a:r>
            <a:endParaRPr lang="zh-CN" altLang="en-US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F448096-FB79-49E6-8ED8-1F275B34B7DD}"/>
              </a:ext>
            </a:extLst>
          </p:cNvPr>
          <p:cNvSpPr txBox="1"/>
          <p:nvPr/>
        </p:nvSpPr>
        <p:spPr>
          <a:xfrm>
            <a:off x="893914" y="1998651"/>
            <a:ext cx="10515600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To construct task-oriented models that minimize their local task-specific losses and at the same time ensure both generalization and personalization errors are below tolerable levels, we formulate the optimization problem as:</a:t>
            </a:r>
            <a:endParaRPr lang="zh-CN" altLang="en-US" dirty="0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EB7F1D88-78BC-45B2-8EA5-A5A03DE6B358}"/>
              </a:ext>
            </a:extLst>
          </p:cNvPr>
          <p:cNvGrpSpPr/>
          <p:nvPr/>
        </p:nvGrpSpPr>
        <p:grpSpPr>
          <a:xfrm>
            <a:off x="3114622" y="3222200"/>
            <a:ext cx="7732988" cy="1443453"/>
            <a:chOff x="3177685" y="3116027"/>
            <a:chExt cx="7732988" cy="14434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47C19B95-9F4C-4349-8465-3881E736E7EA}"/>
                    </a:ext>
                  </a:extLst>
                </p:cNvPr>
                <p:cNvSpPr txBox="1"/>
                <p:nvPr/>
              </p:nvSpPr>
              <p:spPr>
                <a:xfrm>
                  <a:off x="3177685" y="3116027"/>
                  <a:ext cx="5949043" cy="8890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sSubSup>
                                  <m:sSub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</m:lim>
                            </m:limLow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</m:t>
                            </m:r>
                          </m:fName>
                          <m:e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ℒ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𝒟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∀</m:t>
                        </m:r>
                        <m:r>
                          <m:rPr>
                            <m:brk m:alnAt="7"/>
                          </m:rP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𝒦</m:t>
                        </m:r>
                      </m:oMath>
                    </m:oMathPara>
                  </a14:m>
                  <a:endParaRPr lang="en-US" altLang="zh-CN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algn="ctr"/>
                  <a:r>
                    <a:rPr lang="en-US" altLang="zh-CN" dirty="0">
                      <a:ea typeface="Cambria Math" panose="02040503050406030204" pitchFamily="18" charset="0"/>
                    </a:rPr>
                    <a:t>s.t.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ℰ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𝑔𝑒𝑛</m:t>
                          </m:r>
                        </m:sub>
                      </m:sSub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ℰ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a14:m>
                  <a:r>
                    <a:rPr lang="zh-CN" altLang="en-US" dirty="0"/>
                    <a:t>   </a:t>
                  </a:r>
                  <a:r>
                    <a:rPr lang="en-US" altLang="zh-CN" dirty="0"/>
                    <a:t>and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ℰ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𝑝𝑒𝑟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ℰ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47C19B95-9F4C-4349-8465-3881E736E7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7685" y="3116027"/>
                  <a:ext cx="5949043" cy="889026"/>
                </a:xfrm>
                <a:prstGeom prst="rect">
                  <a:avLst/>
                </a:prstGeom>
                <a:blipFill>
                  <a:blip r:embed="rId3"/>
                  <a:stretch>
                    <a:fillRect t="-2069" b="-62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78DDCA07-22A1-493A-8ABF-F981706DDA0C}"/>
                </a:ext>
              </a:extLst>
            </p:cNvPr>
            <p:cNvSpPr txBox="1"/>
            <p:nvPr/>
          </p:nvSpPr>
          <p:spPr>
            <a:xfrm>
              <a:off x="8012958" y="3913149"/>
              <a:ext cx="289771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Maximum tolerable levels of gen. and per. errors</a:t>
              </a:r>
              <a:endParaRPr lang="zh-CN" altLang="en-US" dirty="0"/>
            </a:p>
          </p:txBody>
        </p: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5E777C00-1576-4F6B-A49F-696BA6ABCB74}"/>
                </a:ext>
              </a:extLst>
            </p:cNvPr>
            <p:cNvCxnSpPr/>
            <p:nvPr/>
          </p:nvCxnSpPr>
          <p:spPr>
            <a:xfrm>
              <a:off x="5765415" y="4005053"/>
              <a:ext cx="33107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2A2D8E07-36F5-42BF-B09C-147F2C16E791}"/>
                </a:ext>
              </a:extLst>
            </p:cNvPr>
            <p:cNvCxnSpPr/>
            <p:nvPr/>
          </p:nvCxnSpPr>
          <p:spPr>
            <a:xfrm>
              <a:off x="7405028" y="4005053"/>
              <a:ext cx="33107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连接符: 肘形 23">
              <a:extLst>
                <a:ext uri="{FF2B5EF4-FFF2-40B4-BE49-F238E27FC236}">
                  <a16:creationId xmlns:a16="http://schemas.microsoft.com/office/drawing/2014/main" id="{BCB03293-E77F-4868-BE79-16E15D613B18}"/>
                </a:ext>
              </a:extLst>
            </p:cNvPr>
            <p:cNvCxnSpPr>
              <a:cxnSpLocks/>
            </p:cNvCxnSpPr>
            <p:nvPr/>
          </p:nvCxnSpPr>
          <p:spPr>
            <a:xfrm>
              <a:off x="5930953" y="4005053"/>
              <a:ext cx="2082005" cy="227282"/>
            </a:xfrm>
            <a:prstGeom prst="bentConnector3">
              <a:avLst>
                <a:gd name="adj1" fmla="val 68"/>
              </a:avLst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B57CB218-5E48-4E2E-A1BF-BB1F9C410209}"/>
                </a:ext>
              </a:extLst>
            </p:cNvPr>
            <p:cNvCxnSpPr>
              <a:cxnSpLocks/>
            </p:cNvCxnSpPr>
            <p:nvPr/>
          </p:nvCxnSpPr>
          <p:spPr>
            <a:xfrm>
              <a:off x="7570566" y="4005053"/>
              <a:ext cx="0" cy="227282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04270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5DE6C54-FD1E-4696-871B-32C788369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4406" y="522287"/>
            <a:ext cx="7723188" cy="92551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Outline</a:t>
            </a:r>
          </a:p>
        </p:txBody>
      </p:sp>
      <p:sp>
        <p:nvSpPr>
          <p:cNvPr id="7" name="Introduction…">
            <a:extLst>
              <a:ext uri="{FF2B5EF4-FFF2-40B4-BE49-F238E27FC236}">
                <a16:creationId xmlns:a16="http://schemas.microsoft.com/office/drawing/2014/main" id="{2DE8D281-7E89-4066-BCF6-A14571FF8F69}"/>
              </a:ext>
            </a:extLst>
          </p:cNvPr>
          <p:cNvSpPr txBox="1">
            <a:spLocks/>
          </p:cNvSpPr>
          <p:nvPr/>
        </p:nvSpPr>
        <p:spPr>
          <a:xfrm>
            <a:off x="930644" y="1751120"/>
            <a:ext cx="9442716" cy="472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990">
              <a:lnSpc>
                <a:spcPct val="150000"/>
              </a:lnSpc>
              <a:spcBef>
                <a:spcPts val="1100"/>
              </a:spcBef>
              <a:buFont typeface="Wingdings" panose="05000000000000000000" pitchFamily="2" charset="2"/>
              <a:buChar char="p"/>
              <a:defRPr sz="3230"/>
            </a:pPr>
            <a:r>
              <a:rPr lang="en-US" altLang="zh-CN" sz="3200" b="1" dirty="0">
                <a:latin typeface="Calibri" panose="020F0502020204030204" pitchFamily="34" charset="0"/>
                <a:cs typeface="Calibri" panose="020F0502020204030204" pitchFamily="34" charset="0"/>
              </a:rPr>
              <a:t>Background and Motivation</a:t>
            </a:r>
            <a:endParaRPr lang="en-US" altLang="zh-CN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554990">
              <a:lnSpc>
                <a:spcPct val="150000"/>
              </a:lnSpc>
              <a:spcBef>
                <a:spcPts val="1100"/>
              </a:spcBef>
              <a:buFont typeface="Wingdings" panose="05000000000000000000" pitchFamily="2" charset="2"/>
              <a:buChar char="p"/>
              <a:defRPr sz="3230"/>
            </a:pPr>
            <a:r>
              <a:rPr lang="en-US" altLang="zh-CN" sz="3200" b="1" dirty="0">
                <a:latin typeface="Calibri" panose="020F0502020204030204" pitchFamily="34" charset="0"/>
                <a:cs typeface="Calibri" panose="020F0502020204030204" pitchFamily="34" charset="0"/>
              </a:rPr>
              <a:t>System Model &amp; Problem Formulation</a:t>
            </a:r>
          </a:p>
          <a:p>
            <a:pPr defTabSz="554990">
              <a:lnSpc>
                <a:spcPct val="150000"/>
              </a:lnSpc>
              <a:spcBef>
                <a:spcPts val="1100"/>
              </a:spcBef>
              <a:buFont typeface="Wingdings" panose="05000000000000000000" pitchFamily="2" charset="2"/>
              <a:buChar char="p"/>
              <a:defRPr sz="3230"/>
            </a:pPr>
            <a:r>
              <a:rPr lang="en-US" altLang="zh-CN" sz="3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Workflow of MAN</a:t>
            </a:r>
          </a:p>
          <a:p>
            <a:pPr defTabSz="554990">
              <a:lnSpc>
                <a:spcPct val="150000"/>
              </a:lnSpc>
              <a:spcBef>
                <a:spcPts val="1100"/>
              </a:spcBef>
              <a:buFont typeface="Wingdings" panose="05000000000000000000" pitchFamily="2" charset="2"/>
              <a:buChar char="p"/>
              <a:defRPr sz="3230"/>
            </a:pPr>
            <a:r>
              <a:rPr lang="en-US" altLang="zh-CN" sz="3200" b="1" dirty="0">
                <a:latin typeface="Calibri" panose="020F0502020204030204" pitchFamily="34" charset="0"/>
                <a:cs typeface="Calibri" panose="020F0502020204030204" pitchFamily="34" charset="0"/>
              </a:rPr>
              <a:t>Theoretical &amp; Experimental Results</a:t>
            </a:r>
          </a:p>
          <a:p>
            <a:pPr defTabSz="554990">
              <a:lnSpc>
                <a:spcPct val="150000"/>
              </a:lnSpc>
              <a:spcBef>
                <a:spcPts val="1100"/>
              </a:spcBef>
              <a:buFont typeface="Wingdings" panose="05000000000000000000" pitchFamily="2" charset="2"/>
              <a:buChar char="p"/>
              <a:defRPr sz="3230"/>
            </a:pPr>
            <a:r>
              <a:rPr lang="en-US" altLang="zh-CN" sz="3200" b="1" dirty="0">
                <a:latin typeface="Calibri" panose="020F0502020204030204" pitchFamily="34" charset="0"/>
                <a:cs typeface="Calibri" panose="020F0502020204030204" pitchFamily="34" charset="0"/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1690380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917"/>
    </mc:Choice>
    <mc:Fallback xmlns="">
      <p:transition spd="slow" advTm="14917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442977-DB24-40E5-883A-4D296B77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sz="3230"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等线 Light" panose="02010600030101010101" pitchFamily="2" charset="-122"/>
                <a:cs typeface="Calibri" panose="020F0502020204030204" pitchFamily="34" charset="0"/>
              </a:rPr>
              <a:t>Workflow of MAN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8BDDF4C-38B3-48F0-A830-46A3B4C84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35014"/>
            <a:ext cx="7027100" cy="517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76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442977-DB24-40E5-883A-4D296B77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sz="3230"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等线 Light" panose="02010600030101010101" pitchFamily="2" charset="-122"/>
                <a:cs typeface="Calibri" panose="020F0502020204030204" pitchFamily="34" charset="0"/>
              </a:rPr>
              <a:t>Workflow of MAN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8BDDF4C-38B3-48F0-A830-46A3B4C84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35014"/>
            <a:ext cx="7027100" cy="5173044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BBB1902-5AF6-4E63-BB5F-D5F6A74CD6D1}"/>
              </a:ext>
            </a:extLst>
          </p:cNvPr>
          <p:cNvSpPr/>
          <p:nvPr/>
        </p:nvSpPr>
        <p:spPr>
          <a:xfrm>
            <a:off x="1901606" y="3940627"/>
            <a:ext cx="4288737" cy="326573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话气泡: 椭圆形 5">
                <a:extLst>
                  <a:ext uri="{FF2B5EF4-FFF2-40B4-BE49-F238E27FC236}">
                    <a16:creationId xmlns:a16="http://schemas.microsoft.com/office/drawing/2014/main" id="{2ADE97ED-4618-44C9-B4C1-1F5BF864165C}"/>
                  </a:ext>
                </a:extLst>
              </p:cNvPr>
              <p:cNvSpPr/>
              <p:nvPr/>
            </p:nvSpPr>
            <p:spPr>
              <a:xfrm>
                <a:off x="5178061" y="2604407"/>
                <a:ext cx="6856095" cy="1162134"/>
              </a:xfrm>
              <a:prstGeom prst="wedgeEllipseCallout">
                <a:avLst>
                  <a:gd name="adj1" fmla="val -35117"/>
                  <a:gd name="adj2" fmla="val 64210"/>
                </a:avLst>
              </a:prstGeom>
              <a:noFill/>
              <a:ln w="2857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altLang="zh-CN" b="1" dirty="0">
                    <a:solidFill>
                      <a:srgbClr val="C00000"/>
                    </a:solidFill>
                  </a:rPr>
                  <a:t>Local model adaptation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by</a:t>
                </a:r>
              </a:p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𝒟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p>
                          </m:sSubSup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m:rPr>
                          <m:sty m:val="p"/>
                        </m:rPr>
                        <a:rPr lang="zh-CN" alt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𝒟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对话气泡: 椭圆形 5">
                <a:extLst>
                  <a:ext uri="{FF2B5EF4-FFF2-40B4-BE49-F238E27FC236}">
                    <a16:creationId xmlns:a16="http://schemas.microsoft.com/office/drawing/2014/main" id="{2ADE97ED-4618-44C9-B4C1-1F5BF86416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061" y="2604407"/>
                <a:ext cx="6856095" cy="1162134"/>
              </a:xfrm>
              <a:prstGeom prst="wedgeEllipseCallout">
                <a:avLst>
                  <a:gd name="adj1" fmla="val -35117"/>
                  <a:gd name="adj2" fmla="val 64210"/>
                </a:avLst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4077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442977-DB24-40E5-883A-4D296B77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sz="3230"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等线 Light" panose="02010600030101010101" pitchFamily="2" charset="-122"/>
                <a:cs typeface="Calibri" panose="020F0502020204030204" pitchFamily="34" charset="0"/>
              </a:rPr>
              <a:t>Workflow of MAN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8BDDF4C-38B3-48F0-A830-46A3B4C84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35014"/>
            <a:ext cx="7027100" cy="5173044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69B5985-1EB7-4898-9B59-5F546D7621DA}"/>
              </a:ext>
            </a:extLst>
          </p:cNvPr>
          <p:cNvCxnSpPr>
            <a:stCxn id="12" idx="5"/>
            <a:endCxn id="13" idx="1"/>
          </p:cNvCxnSpPr>
          <p:nvPr/>
        </p:nvCxnSpPr>
        <p:spPr>
          <a:xfrm>
            <a:off x="6649527" y="3509822"/>
            <a:ext cx="2461407" cy="171668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2BBB1902-5AF6-4E63-BB5F-D5F6A74CD6D1}"/>
              </a:ext>
            </a:extLst>
          </p:cNvPr>
          <p:cNvSpPr/>
          <p:nvPr/>
        </p:nvSpPr>
        <p:spPr>
          <a:xfrm>
            <a:off x="1901606" y="3940627"/>
            <a:ext cx="4288737" cy="326573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话气泡: 椭圆形 5">
                <a:extLst>
                  <a:ext uri="{FF2B5EF4-FFF2-40B4-BE49-F238E27FC236}">
                    <a16:creationId xmlns:a16="http://schemas.microsoft.com/office/drawing/2014/main" id="{2ADE97ED-4618-44C9-B4C1-1F5BF864165C}"/>
                  </a:ext>
                </a:extLst>
              </p:cNvPr>
              <p:cNvSpPr/>
              <p:nvPr/>
            </p:nvSpPr>
            <p:spPr>
              <a:xfrm>
                <a:off x="5178061" y="2604407"/>
                <a:ext cx="6856095" cy="1162134"/>
              </a:xfrm>
              <a:prstGeom prst="wedgeEllipseCallout">
                <a:avLst>
                  <a:gd name="adj1" fmla="val -35117"/>
                  <a:gd name="adj2" fmla="val 64210"/>
                </a:avLst>
              </a:prstGeom>
              <a:noFill/>
              <a:ln w="2857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altLang="zh-CN" b="1" dirty="0">
                    <a:solidFill>
                      <a:srgbClr val="C00000"/>
                    </a:solidFill>
                  </a:rPr>
                  <a:t>Local model adaptation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by</a:t>
                </a:r>
              </a:p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𝒟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p>
                          </m:sSubSup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m:rPr>
                          <m:sty m:val="p"/>
                        </m:rPr>
                        <a:rPr lang="zh-CN" alt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𝒟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对话气泡: 椭圆形 5">
                <a:extLst>
                  <a:ext uri="{FF2B5EF4-FFF2-40B4-BE49-F238E27FC236}">
                    <a16:creationId xmlns:a16="http://schemas.microsoft.com/office/drawing/2014/main" id="{2ADE97ED-4618-44C9-B4C1-1F5BF86416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061" y="2604407"/>
                <a:ext cx="6856095" cy="1162134"/>
              </a:xfrm>
              <a:prstGeom prst="wedgeEllipseCallout">
                <a:avLst>
                  <a:gd name="adj1" fmla="val -35117"/>
                  <a:gd name="adj2" fmla="val 64210"/>
                </a:avLst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C699E9DC-C7D7-4806-B5FC-44AEBA65A92F}"/>
              </a:ext>
            </a:extLst>
          </p:cNvPr>
          <p:cNvSpPr/>
          <p:nvPr/>
        </p:nvSpPr>
        <p:spPr>
          <a:xfrm>
            <a:off x="1556143" y="5885064"/>
            <a:ext cx="3688519" cy="326573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话气泡: 椭圆形 9">
                <a:extLst>
                  <a:ext uri="{FF2B5EF4-FFF2-40B4-BE49-F238E27FC236}">
                    <a16:creationId xmlns:a16="http://schemas.microsoft.com/office/drawing/2014/main" id="{F8F8E246-B8D5-4E80-A0A9-C32B6704ECF3}"/>
                  </a:ext>
                </a:extLst>
              </p:cNvPr>
              <p:cNvSpPr/>
              <p:nvPr/>
            </p:nvSpPr>
            <p:spPr>
              <a:xfrm>
                <a:off x="5554716" y="4554867"/>
                <a:ext cx="5996153" cy="1162134"/>
              </a:xfrm>
              <a:prstGeom prst="wedgeEllipseCallout">
                <a:avLst>
                  <a:gd name="adj1" fmla="val -53771"/>
                  <a:gd name="adj2" fmla="val 61949"/>
                </a:avLst>
              </a:prstGeom>
              <a:noFill/>
              <a:ln w="2857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altLang="zh-CN" b="1" dirty="0">
                    <a:solidFill>
                      <a:srgbClr val="C00000"/>
                    </a:solidFill>
                  </a:rPr>
                  <a:t>Meta-model optimization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by</a:t>
                </a:r>
              </a:p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groupChr>
                        <m:groupChrPr>
                          <m:chr m:val="←"/>
                          <m:vertJc m:val="bot"/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sSubSup>
                        <m:sSub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𝒟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对话气泡: 椭圆形 9">
                <a:extLst>
                  <a:ext uri="{FF2B5EF4-FFF2-40B4-BE49-F238E27FC236}">
                    <a16:creationId xmlns:a16="http://schemas.microsoft.com/office/drawing/2014/main" id="{F8F8E246-B8D5-4E80-A0A9-C32B6704EC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716" y="4554867"/>
                <a:ext cx="5996153" cy="1162134"/>
              </a:xfrm>
              <a:prstGeom prst="wedgeEllipseCallout">
                <a:avLst>
                  <a:gd name="adj1" fmla="val -53771"/>
                  <a:gd name="adj2" fmla="val 61949"/>
                </a:avLst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椭圆 11">
            <a:extLst>
              <a:ext uri="{FF2B5EF4-FFF2-40B4-BE49-F238E27FC236}">
                <a16:creationId xmlns:a16="http://schemas.microsoft.com/office/drawing/2014/main" id="{784AC747-3098-4092-9C57-42B936FCF0A0}"/>
              </a:ext>
            </a:extLst>
          </p:cNvPr>
          <p:cNvSpPr/>
          <p:nvPr/>
        </p:nvSpPr>
        <p:spPr>
          <a:xfrm>
            <a:off x="6272963" y="3178885"/>
            <a:ext cx="441172" cy="38771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097D9B3-2D97-4D3D-9F14-810F68B41C37}"/>
              </a:ext>
            </a:extLst>
          </p:cNvPr>
          <p:cNvSpPr/>
          <p:nvPr/>
        </p:nvSpPr>
        <p:spPr>
          <a:xfrm>
            <a:off x="9046326" y="5169722"/>
            <a:ext cx="441172" cy="38771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638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5DE6C54-FD1E-4696-871B-32C788369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4406" y="522287"/>
            <a:ext cx="7723188" cy="92551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Outline</a:t>
            </a:r>
          </a:p>
        </p:txBody>
      </p:sp>
      <p:sp>
        <p:nvSpPr>
          <p:cNvPr id="7" name="Introduction…">
            <a:extLst>
              <a:ext uri="{FF2B5EF4-FFF2-40B4-BE49-F238E27FC236}">
                <a16:creationId xmlns:a16="http://schemas.microsoft.com/office/drawing/2014/main" id="{2DE8D281-7E89-4066-BCF6-A14571FF8F69}"/>
              </a:ext>
            </a:extLst>
          </p:cNvPr>
          <p:cNvSpPr txBox="1">
            <a:spLocks/>
          </p:cNvSpPr>
          <p:nvPr/>
        </p:nvSpPr>
        <p:spPr>
          <a:xfrm>
            <a:off x="930644" y="1751120"/>
            <a:ext cx="9442716" cy="472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990">
              <a:lnSpc>
                <a:spcPct val="150000"/>
              </a:lnSpc>
              <a:spcBef>
                <a:spcPts val="1100"/>
              </a:spcBef>
              <a:buFont typeface="Wingdings" panose="05000000000000000000" pitchFamily="2" charset="2"/>
              <a:buChar char="p"/>
              <a:defRPr sz="3230"/>
            </a:pPr>
            <a:r>
              <a:rPr lang="en-US" altLang="zh-CN" sz="3200" b="1" dirty="0">
                <a:latin typeface="Calibri" panose="020F0502020204030204" pitchFamily="34" charset="0"/>
                <a:cs typeface="Calibri" panose="020F0502020204030204" pitchFamily="34" charset="0"/>
              </a:rPr>
              <a:t>Background and Motivation</a:t>
            </a:r>
            <a:endParaRPr lang="en-US" altLang="zh-CN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554990">
              <a:lnSpc>
                <a:spcPct val="150000"/>
              </a:lnSpc>
              <a:spcBef>
                <a:spcPts val="1100"/>
              </a:spcBef>
              <a:buFont typeface="Wingdings" panose="05000000000000000000" pitchFamily="2" charset="2"/>
              <a:buChar char="p"/>
              <a:defRPr sz="3230"/>
            </a:pPr>
            <a:r>
              <a:rPr lang="en-US" altLang="zh-CN" sz="3200" b="1" dirty="0">
                <a:latin typeface="Calibri" panose="020F0502020204030204" pitchFamily="34" charset="0"/>
                <a:cs typeface="Calibri" panose="020F0502020204030204" pitchFamily="34" charset="0"/>
              </a:rPr>
              <a:t>System Model &amp; Problem Formulation</a:t>
            </a:r>
          </a:p>
          <a:p>
            <a:pPr defTabSz="554990">
              <a:lnSpc>
                <a:spcPct val="150000"/>
              </a:lnSpc>
              <a:spcBef>
                <a:spcPts val="1100"/>
              </a:spcBef>
              <a:buFont typeface="Wingdings" panose="05000000000000000000" pitchFamily="2" charset="2"/>
              <a:buChar char="p"/>
              <a:defRPr sz="3230"/>
            </a:pPr>
            <a:r>
              <a:rPr lang="en-US" altLang="zh-CN" sz="3200" b="1" dirty="0">
                <a:latin typeface="Calibri" panose="020F0502020204030204" pitchFamily="34" charset="0"/>
                <a:cs typeface="Calibri" panose="020F0502020204030204" pitchFamily="34" charset="0"/>
              </a:rPr>
              <a:t>Workflow of MAN</a:t>
            </a:r>
          </a:p>
          <a:p>
            <a:pPr defTabSz="554990">
              <a:lnSpc>
                <a:spcPct val="150000"/>
              </a:lnSpc>
              <a:spcBef>
                <a:spcPts val="1100"/>
              </a:spcBef>
              <a:buFont typeface="Wingdings" panose="05000000000000000000" pitchFamily="2" charset="2"/>
              <a:buChar char="p"/>
              <a:defRPr sz="3230"/>
            </a:pPr>
            <a:r>
              <a:rPr lang="en-US" altLang="zh-CN" sz="3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Theoretical &amp; Experimental Results</a:t>
            </a:r>
          </a:p>
          <a:p>
            <a:pPr defTabSz="554990">
              <a:lnSpc>
                <a:spcPct val="150000"/>
              </a:lnSpc>
              <a:spcBef>
                <a:spcPts val="1100"/>
              </a:spcBef>
              <a:buFont typeface="Wingdings" panose="05000000000000000000" pitchFamily="2" charset="2"/>
              <a:buChar char="p"/>
              <a:defRPr sz="3230"/>
            </a:pPr>
            <a:r>
              <a:rPr lang="en-US" altLang="zh-CN" sz="3200" b="1" dirty="0">
                <a:latin typeface="Calibri" panose="020F0502020204030204" pitchFamily="34" charset="0"/>
                <a:cs typeface="Calibri" panose="020F0502020204030204" pitchFamily="34" charset="0"/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1123533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917"/>
    </mc:Choice>
    <mc:Fallback xmlns="">
      <p:transition spd="slow" advTm="14917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442977-DB24-40E5-883A-4D296B77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sz="3230"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等线 Light" panose="02010600030101010101" pitchFamily="2" charset="-122"/>
                <a:cs typeface="Calibri" panose="020F0502020204030204" pitchFamily="34" charset="0"/>
              </a:rPr>
              <a:t>Theoretical Results</a:t>
            </a:r>
            <a:endParaRPr lang="zh-CN" altLang="en-US" dirty="0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2EE66AEC-F836-443D-8902-0C89F2551794}"/>
              </a:ext>
            </a:extLst>
          </p:cNvPr>
          <p:cNvGrpSpPr/>
          <p:nvPr/>
        </p:nvGrpSpPr>
        <p:grpSpPr>
          <a:xfrm>
            <a:off x="838200" y="1457598"/>
            <a:ext cx="3583989" cy="2527317"/>
            <a:chOff x="838200" y="4187797"/>
            <a:chExt cx="3583989" cy="2527317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2526D69F-A5AB-4230-BA2F-DCEFC46BEC32}"/>
                </a:ext>
              </a:extLst>
            </p:cNvPr>
            <p:cNvSpPr/>
            <p:nvPr/>
          </p:nvSpPr>
          <p:spPr>
            <a:xfrm>
              <a:off x="838200" y="4418630"/>
              <a:ext cx="3583989" cy="2296484"/>
            </a:xfrm>
            <a:prstGeom prst="rect">
              <a:avLst/>
            </a:prstGeom>
            <a:noFill/>
            <a:ln w="25400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8A46E055-3E85-441A-84AC-F1FFD11EBFA1}"/>
                </a:ext>
              </a:extLst>
            </p:cNvPr>
            <p:cNvSpPr/>
            <p:nvPr/>
          </p:nvSpPr>
          <p:spPr>
            <a:xfrm>
              <a:off x="1225256" y="4187797"/>
              <a:ext cx="2809875" cy="46166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Assumptions</a:t>
              </a:r>
              <a:endPara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D19D2CC7-1E8B-4536-A818-8D383CD2C453}"/>
                    </a:ext>
                  </a:extLst>
                </p:cNvPr>
                <p:cNvSpPr txBox="1"/>
                <p:nvPr/>
              </p:nvSpPr>
              <p:spPr>
                <a:xfrm>
                  <a:off x="1056689" y="4764796"/>
                  <a:ext cx="33655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Loss function </a:t>
                  </a:r>
                  <a14:m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a14:m>
                  <a:r>
                    <a:rPr lang="en-US" altLang="zh-CN" dirty="0"/>
                    <a:t> satisfies </a:t>
                  </a:r>
                  <a:endParaRPr lang="zh-CN" altLang="en-US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D19D2CC7-1E8B-4536-A818-8D383CD2C4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6689" y="4764796"/>
                  <a:ext cx="3365500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449" t="-10000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ED925EF6-DE18-4C1C-A61B-E02FEBE8A848}"/>
                    </a:ext>
                  </a:extLst>
                </p:cNvPr>
                <p:cNvSpPr txBox="1"/>
                <p:nvPr/>
              </p:nvSpPr>
              <p:spPr>
                <a:xfrm>
                  <a:off x="1145395" y="5077583"/>
                  <a:ext cx="2969595" cy="150291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lnSpc>
                      <a:spcPct val="13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r>
                    <a:rPr lang="en-US" altLang="zh-CN" dirty="0"/>
                    <a:t>-smooth</a:t>
                  </a:r>
                </a:p>
                <a:p>
                  <a:pPr marL="285750" indent="-285750">
                    <a:lnSpc>
                      <a:spcPct val="13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𝜇</m:t>
                      </m:r>
                    </m:oMath>
                  </a14:m>
                  <a:r>
                    <a:rPr lang="en-US" altLang="zh-CN" dirty="0"/>
                    <a:t>-strongly convex</a:t>
                  </a:r>
                </a:p>
                <a:p>
                  <a:pPr marL="285750" indent="-285750">
                    <a:lnSpc>
                      <a:spcPct val="13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𝜌</m:t>
                      </m:r>
                    </m:oMath>
                  </a14:m>
                  <a:r>
                    <a:rPr lang="en-US" altLang="zh-CN" dirty="0"/>
                    <a:t>-Lipschitz continuous</a:t>
                  </a:r>
                  <a:endParaRPr lang="zh-CN" altLang="en-US" dirty="0"/>
                </a:p>
                <a:p>
                  <a:pPr marL="285750" indent="-285750">
                    <a:lnSpc>
                      <a:spcPct val="13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en-US" altLang="zh-CN" dirty="0"/>
                    <a:t>-gradient bounded</a:t>
                  </a:r>
                  <a:endParaRPr lang="zh-CN" altLang="en-US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ED925EF6-DE18-4C1C-A61B-E02FEBE8A8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5395" y="5077583"/>
                  <a:ext cx="2969595" cy="1502912"/>
                </a:xfrm>
                <a:prstGeom prst="rect">
                  <a:avLst/>
                </a:prstGeom>
                <a:blipFill>
                  <a:blip r:embed="rId6"/>
                  <a:stretch>
                    <a:fillRect l="-1437" b="-56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1" name="箭头: 右 40">
            <a:extLst>
              <a:ext uri="{FF2B5EF4-FFF2-40B4-BE49-F238E27FC236}">
                <a16:creationId xmlns:a16="http://schemas.microsoft.com/office/drawing/2014/main" id="{8609C011-E64F-4AB1-9186-CD00A692393F}"/>
              </a:ext>
            </a:extLst>
          </p:cNvPr>
          <p:cNvSpPr/>
          <p:nvPr/>
        </p:nvSpPr>
        <p:spPr>
          <a:xfrm>
            <a:off x="4875326" y="2402843"/>
            <a:ext cx="597682" cy="635420"/>
          </a:xfrm>
          <a:prstGeom prst="rightArrow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66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96506D1-1909-40A2-A177-26355DD2508E}"/>
              </a:ext>
            </a:extLst>
          </p:cNvPr>
          <p:cNvGrpSpPr/>
          <p:nvPr/>
        </p:nvGrpSpPr>
        <p:grpSpPr>
          <a:xfrm>
            <a:off x="5926145" y="1085848"/>
            <a:ext cx="5465468" cy="3007180"/>
            <a:chOff x="5931136" y="1330777"/>
            <a:chExt cx="5465468" cy="3007180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7BF3ED24-CE66-4487-AF72-FBB05A15FAA0}"/>
                </a:ext>
              </a:extLst>
            </p:cNvPr>
            <p:cNvSpPr/>
            <p:nvPr/>
          </p:nvSpPr>
          <p:spPr>
            <a:xfrm>
              <a:off x="5931136" y="1330777"/>
              <a:ext cx="5465014" cy="300718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>
              <a:outerShdw blurRad="508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EDE803D1-5260-48C0-820F-02680D251754}"/>
                </a:ext>
              </a:extLst>
            </p:cNvPr>
            <p:cNvSpPr/>
            <p:nvPr/>
          </p:nvSpPr>
          <p:spPr>
            <a:xfrm>
              <a:off x="5931590" y="1918477"/>
              <a:ext cx="5465014" cy="2419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9DF4A0A0-A051-4C95-B597-85107E8DC2D5}"/>
                </a:ext>
              </a:extLst>
            </p:cNvPr>
            <p:cNvSpPr txBox="1"/>
            <p:nvPr/>
          </p:nvSpPr>
          <p:spPr>
            <a:xfrm>
              <a:off x="5947011" y="1392241"/>
              <a:ext cx="516103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Upper Bound of Generalization Error</a:t>
              </a:r>
              <a:endPara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781C1670-DD98-4C6D-BF20-AB98E482DDC8}"/>
                    </a:ext>
                  </a:extLst>
                </p:cNvPr>
                <p:cNvSpPr txBox="1"/>
                <p:nvPr/>
              </p:nvSpPr>
              <p:spPr>
                <a:xfrm>
                  <a:off x="6096000" y="1945692"/>
                  <a:ext cx="4632741" cy="8631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dirty="0"/>
                    <a:t>With </a:t>
                  </a:r>
                  <a14:m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den>
                          </m:f>
                        </m:e>
                      </m:d>
                    </m:oMath>
                  </a14:m>
                  <a:r>
                    <a:rPr lang="en-US" altLang="zh-CN" dirty="0"/>
                    <a:t> and </a:t>
                  </a:r>
                  <a14:m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𝛽𝜌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den>
                      </m:f>
                    </m:oMath>
                  </a14:m>
                  <a:r>
                    <a:rPr lang="en-US" altLang="zh-CN" dirty="0"/>
                    <a:t>, the generalization error can be upper bounded by</a:t>
                  </a:r>
                  <a:endParaRPr lang="zh-CN" altLang="en-US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781C1670-DD98-4C6D-BF20-AB98E482DD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1945692"/>
                  <a:ext cx="4632741" cy="863185"/>
                </a:xfrm>
                <a:prstGeom prst="rect">
                  <a:avLst/>
                </a:prstGeom>
                <a:blipFill>
                  <a:blip r:embed="rId7"/>
                  <a:stretch>
                    <a:fillRect l="-1053" b="-98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AF662192-7E95-40C4-8FE3-AC16EC20930B}"/>
                    </a:ext>
                  </a:extLst>
                </p:cNvPr>
                <p:cNvSpPr txBox="1"/>
                <p:nvPr/>
              </p:nvSpPr>
              <p:spPr>
                <a:xfrm>
                  <a:off x="6432294" y="2890200"/>
                  <a:ext cx="4462697" cy="62799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ℰ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𝑔𝑒𝑛</m:t>
                            </m:r>
                          </m:sub>
                        </m:sSub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𝒪</m:t>
                        </m:r>
                        <m:d>
                          <m:d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zh-CN" alt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𝐿𝐵</m:t>
                                    </m:r>
                                  </m:e>
                                </m:d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𝐾𝐷</m:t>
                                </m:r>
                              </m:den>
                            </m:f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𝐸𝑇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AF662192-7E95-40C4-8FE3-AC16EC2093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2294" y="2890200"/>
                  <a:ext cx="4462697" cy="62799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93C94E1E-5EF9-4BAB-AAD6-2CEA9B1B3400}"/>
                </a:ext>
              </a:extLst>
            </p:cNvPr>
            <p:cNvCxnSpPr>
              <a:cxnSpLocks/>
            </p:cNvCxnSpPr>
            <p:nvPr/>
          </p:nvCxnSpPr>
          <p:spPr>
            <a:xfrm>
              <a:off x="10189836" y="3456215"/>
              <a:ext cx="33107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连接符: 肘形 52">
              <a:extLst>
                <a:ext uri="{FF2B5EF4-FFF2-40B4-BE49-F238E27FC236}">
                  <a16:creationId xmlns:a16="http://schemas.microsoft.com/office/drawing/2014/main" id="{C6C7BB83-AFBD-46D7-9693-4E346C8C7F58}"/>
                </a:ext>
              </a:extLst>
            </p:cNvPr>
            <p:cNvCxnSpPr>
              <a:cxnSpLocks/>
              <a:endCxn id="54" idx="3"/>
            </p:cNvCxnSpPr>
            <p:nvPr/>
          </p:nvCxnSpPr>
          <p:spPr>
            <a:xfrm rot="5400000">
              <a:off x="9867684" y="3468677"/>
              <a:ext cx="500158" cy="475233"/>
            </a:xfrm>
            <a:prstGeom prst="bentConnector2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27FD9B0C-342D-4404-BA6A-591663D478F9}"/>
                    </a:ext>
                  </a:extLst>
                </p:cNvPr>
                <p:cNvSpPr txBox="1"/>
                <p:nvPr/>
              </p:nvSpPr>
              <p:spPr>
                <a:xfrm>
                  <a:off x="7811115" y="3682899"/>
                  <a:ext cx="2069031" cy="54694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d>
                              <m:d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𝜌𝛽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16</m:t>
                            </m:r>
                            <m:d>
                              <m:d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𝜌𝛽</m:t>
                                </m:r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</m:d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den>
                        </m:f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27FD9B0C-342D-4404-BA6A-591663D478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1115" y="3682899"/>
                  <a:ext cx="2069031" cy="546945"/>
                </a:xfrm>
                <a:prstGeom prst="rect">
                  <a:avLst/>
                </a:prstGeom>
                <a:blipFill>
                  <a:blip r:embed="rId9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B47D81F6-A1A2-4E3A-894A-3FB5DA254611}"/>
                  </a:ext>
                </a:extLst>
              </p:cNvPr>
              <p:cNvSpPr txBox="1"/>
              <p:nvPr/>
            </p:nvSpPr>
            <p:spPr>
              <a:xfrm>
                <a:off x="1586545" y="4623389"/>
                <a:ext cx="8679200" cy="17758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b="1" dirty="0"/>
                  <a:t>*Notation:</a:t>
                </a:r>
                <a:r>
                  <a:rPr lang="zh-CN" altLang="en-US" b="1" dirty="0"/>
                  <a:t> </a:t>
                </a:r>
                <a:endParaRPr lang="en-US" altLang="zh-CN" b="1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CN" dirty="0"/>
                  <a:t> – batch size, i.e., the size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p>
                    </m:sSubSup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𝑜𝑢𝑡</m:t>
                        </m:r>
                      </m:sup>
                    </m:sSubSup>
                  </m:oMath>
                </a14:m>
                <a:r>
                  <a:rPr lang="en-US" altLang="zh-CN" dirty="0"/>
                  <a:t>;	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dirty="0"/>
                  <a:t> – number of collaborative agents ;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dirty="0"/>
                  <a:t> – local adaptation step;	 				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CN" dirty="0"/>
                  <a:t> – global iterations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zh-CN" dirty="0"/>
                  <a:t> – size of local dataset;						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&amp; 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CN" dirty="0"/>
                  <a:t> – learning rates</a:t>
                </a:r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B47D81F6-A1A2-4E3A-894A-3FB5DA254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6545" y="4623389"/>
                <a:ext cx="8679200" cy="1775871"/>
              </a:xfrm>
              <a:prstGeom prst="rect">
                <a:avLst/>
              </a:prstGeom>
              <a:blipFill>
                <a:blip r:embed="rId10"/>
                <a:stretch>
                  <a:fillRect l="-562" b="-44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AB092E27-797F-47A2-99C4-ACE1AD91B71F}"/>
              </a:ext>
            </a:extLst>
          </p:cNvPr>
          <p:cNvCxnSpPr>
            <a:cxnSpLocks/>
          </p:cNvCxnSpPr>
          <p:nvPr/>
        </p:nvCxnSpPr>
        <p:spPr>
          <a:xfrm>
            <a:off x="269846" y="4564673"/>
            <a:ext cx="11652308" cy="0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033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442977-DB24-40E5-883A-4D296B77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sz="3230"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等线 Light" panose="02010600030101010101" pitchFamily="2" charset="-122"/>
                <a:cs typeface="Calibri" panose="020F0502020204030204" pitchFamily="34" charset="0"/>
              </a:rPr>
              <a:t>Theoretical Results</a:t>
            </a:r>
            <a:endParaRPr lang="zh-CN" altLang="en-US" dirty="0"/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43D62BAC-41D6-4F8C-B62D-FFB380DA304E}"/>
              </a:ext>
            </a:extLst>
          </p:cNvPr>
          <p:cNvGrpSpPr/>
          <p:nvPr/>
        </p:nvGrpSpPr>
        <p:grpSpPr>
          <a:xfrm>
            <a:off x="787933" y="1218800"/>
            <a:ext cx="4190464" cy="3125931"/>
            <a:chOff x="838200" y="4187797"/>
            <a:chExt cx="3583989" cy="3125931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811A4A3A-2E30-41D6-AF99-1EF7259A7F8B}"/>
                </a:ext>
              </a:extLst>
            </p:cNvPr>
            <p:cNvSpPr/>
            <p:nvPr/>
          </p:nvSpPr>
          <p:spPr>
            <a:xfrm>
              <a:off x="838200" y="4418630"/>
              <a:ext cx="3583989" cy="2895098"/>
            </a:xfrm>
            <a:prstGeom prst="rect">
              <a:avLst/>
            </a:prstGeom>
            <a:noFill/>
            <a:ln w="25400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0C37658B-524F-48C9-9140-8CF789063544}"/>
                </a:ext>
              </a:extLst>
            </p:cNvPr>
            <p:cNvSpPr/>
            <p:nvPr/>
          </p:nvSpPr>
          <p:spPr>
            <a:xfrm>
              <a:off x="1225256" y="4187797"/>
              <a:ext cx="2809875" cy="46166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Assumptions</a:t>
              </a:r>
              <a:endPara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15EC1C2F-4D1A-443B-9673-1813EAA62A37}"/>
                    </a:ext>
                  </a:extLst>
                </p:cNvPr>
                <p:cNvSpPr txBox="1"/>
                <p:nvPr/>
              </p:nvSpPr>
              <p:spPr>
                <a:xfrm>
                  <a:off x="1056689" y="4764796"/>
                  <a:ext cx="33655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Loss function </a:t>
                  </a:r>
                  <a14:m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a14:m>
                  <a:r>
                    <a:rPr lang="en-US" altLang="zh-CN" dirty="0"/>
                    <a:t> satisfies </a:t>
                  </a:r>
                  <a:endParaRPr lang="zh-CN" altLang="en-US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15EC1C2F-4D1A-443B-9673-1813EAA62A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6689" y="4764796"/>
                  <a:ext cx="3365500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238" t="-10000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B825F51E-66DE-49DB-9B9B-0B350DF68925}"/>
                    </a:ext>
                  </a:extLst>
                </p:cNvPr>
                <p:cNvSpPr txBox="1"/>
                <p:nvPr/>
              </p:nvSpPr>
              <p:spPr>
                <a:xfrm>
                  <a:off x="1145396" y="5077583"/>
                  <a:ext cx="2889736" cy="18637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lnSpc>
                      <a:spcPct val="13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r>
                    <a:rPr lang="en-US" altLang="zh-CN" dirty="0"/>
                    <a:t>-smooth</a:t>
                  </a:r>
                </a:p>
                <a:p>
                  <a:pPr marL="285750" indent="-285750">
                    <a:lnSpc>
                      <a:spcPct val="13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𝜇</m:t>
                      </m:r>
                    </m:oMath>
                  </a14:m>
                  <a:r>
                    <a:rPr lang="en-US" altLang="zh-CN" dirty="0"/>
                    <a:t>-strongly convex</a:t>
                  </a:r>
                </a:p>
                <a:p>
                  <a:pPr marL="285750" indent="-285750">
                    <a:lnSpc>
                      <a:spcPct val="13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𝜌</m:t>
                      </m:r>
                    </m:oMath>
                  </a14:m>
                  <a:r>
                    <a:rPr lang="en-US" altLang="zh-CN" dirty="0"/>
                    <a:t>-Lipschitz continuous</a:t>
                  </a:r>
                  <a:endParaRPr lang="zh-CN" altLang="en-US" dirty="0"/>
                </a:p>
                <a:p>
                  <a:pPr marL="285750" indent="-285750">
                    <a:lnSpc>
                      <a:spcPct val="13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en-US" altLang="zh-CN" dirty="0"/>
                    <a:t>-gradient bounded</a:t>
                  </a:r>
                </a:p>
                <a:p>
                  <a:pPr marL="285750" indent="-285750">
                    <a:lnSpc>
                      <a:spcPct val="13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altLang="zh-CN" dirty="0"/>
                    <a:t>Bounded gradient variance</a:t>
                  </a: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B825F51E-66DE-49DB-9B9B-0B350DF689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5396" y="5077583"/>
                  <a:ext cx="2889736" cy="1863715"/>
                </a:xfrm>
                <a:prstGeom prst="rect">
                  <a:avLst/>
                </a:prstGeom>
                <a:blipFill>
                  <a:blip r:embed="rId4"/>
                  <a:stretch>
                    <a:fillRect l="-1083" b="-42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DB1FB3E9-EBF6-4327-B23D-46A804C2DCAE}"/>
              </a:ext>
            </a:extLst>
          </p:cNvPr>
          <p:cNvCxnSpPr>
            <a:cxnSpLocks/>
          </p:cNvCxnSpPr>
          <p:nvPr/>
        </p:nvCxnSpPr>
        <p:spPr>
          <a:xfrm>
            <a:off x="269846" y="4564673"/>
            <a:ext cx="11652308" cy="0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ADE7C696-EE2D-410F-8B38-BD66218FF01E}"/>
              </a:ext>
            </a:extLst>
          </p:cNvPr>
          <p:cNvSpPr txBox="1"/>
          <p:nvPr/>
        </p:nvSpPr>
        <p:spPr>
          <a:xfrm>
            <a:off x="472968" y="4625371"/>
            <a:ext cx="2814241" cy="43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C00000"/>
                </a:solidFill>
              </a:rPr>
              <a:t>Discussion of tradeoff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E3C95CD9-FF47-4C9A-AB80-90A8B4A636BE}"/>
              </a:ext>
            </a:extLst>
          </p:cNvPr>
          <p:cNvCxnSpPr>
            <a:cxnSpLocks/>
          </p:cNvCxnSpPr>
          <p:nvPr/>
        </p:nvCxnSpPr>
        <p:spPr>
          <a:xfrm>
            <a:off x="3192538" y="5222459"/>
            <a:ext cx="5199098" cy="0"/>
          </a:xfrm>
          <a:prstGeom prst="straightConnector1">
            <a:avLst/>
          </a:prstGeom>
          <a:ln w="76200">
            <a:gradFill flip="none" rotWithShape="1">
              <a:gsLst>
                <a:gs pos="0">
                  <a:schemeClr val="accent2"/>
                </a:gs>
                <a:gs pos="61000">
                  <a:schemeClr val="accent6">
                    <a:lumMod val="40000"/>
                    <a:lumOff val="60000"/>
                  </a:schemeClr>
                </a:gs>
                <a:gs pos="100000">
                  <a:schemeClr val="accent6"/>
                </a:gs>
              </a:gsLst>
              <a:lin ang="2700000" scaled="0"/>
              <a:tileRect/>
            </a:gra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3A714F03-4E06-4C79-BB6D-CABD132B94B4}"/>
              </a:ext>
            </a:extLst>
          </p:cNvPr>
          <p:cNvCxnSpPr>
            <a:cxnSpLocks/>
          </p:cNvCxnSpPr>
          <p:nvPr/>
        </p:nvCxnSpPr>
        <p:spPr>
          <a:xfrm>
            <a:off x="3200581" y="6314432"/>
            <a:ext cx="5199098" cy="0"/>
          </a:xfrm>
          <a:prstGeom prst="straightConnector1">
            <a:avLst/>
          </a:prstGeom>
          <a:ln w="76200">
            <a:gradFill flip="none" rotWithShape="1">
              <a:gsLst>
                <a:gs pos="0">
                  <a:srgbClr val="FF0000"/>
                </a:gs>
                <a:gs pos="61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2700000" scaled="0"/>
              <a:tileRect/>
            </a:gra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76C9C027-6512-4853-ADFB-42684D4374D1}"/>
              </a:ext>
            </a:extLst>
          </p:cNvPr>
          <p:cNvSpPr txBox="1"/>
          <p:nvPr/>
        </p:nvSpPr>
        <p:spPr>
          <a:xfrm>
            <a:off x="4435775" y="4801756"/>
            <a:ext cx="2639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Global collaboration view</a:t>
            </a:r>
            <a:endParaRPr lang="zh-CN" altLang="en-US" b="1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F15D1B43-5D70-4C9F-9A9C-3FE88A3AE6D3}"/>
              </a:ext>
            </a:extLst>
          </p:cNvPr>
          <p:cNvSpPr txBox="1"/>
          <p:nvPr/>
        </p:nvSpPr>
        <p:spPr>
          <a:xfrm>
            <a:off x="4435775" y="6389031"/>
            <a:ext cx="2639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Local adaptation view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800BDF8B-339C-44EC-92BD-6145A352BCD8}"/>
                  </a:ext>
                </a:extLst>
              </p:cNvPr>
              <p:cNvSpPr txBox="1"/>
              <p:nvPr/>
            </p:nvSpPr>
            <p:spPr>
              <a:xfrm>
                <a:off x="3936962" y="5258955"/>
                <a:ext cx="39752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Iterations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, collaborative agents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800BDF8B-339C-44EC-92BD-6145A352B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6962" y="5258955"/>
                <a:ext cx="3975256" cy="369332"/>
              </a:xfrm>
              <a:prstGeom prst="rect">
                <a:avLst/>
              </a:prstGeom>
              <a:blipFill>
                <a:blip r:embed="rId5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51878D1B-19D8-479C-8D38-2B541A0183C7}"/>
                  </a:ext>
                </a:extLst>
              </p:cNvPr>
              <p:cNvSpPr txBox="1"/>
              <p:nvPr/>
            </p:nvSpPr>
            <p:spPr>
              <a:xfrm>
                <a:off x="3944101" y="5907801"/>
                <a:ext cx="36223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Adaptation steps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, step size </a:t>
                </a:r>
                <a14:m>
                  <m:oMath xmlns:m="http://schemas.openxmlformats.org/officeDocument/2006/math">
                    <m:r>
                      <a:rPr lang="zh-CN" alt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51878D1B-19D8-479C-8D38-2B541A018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4101" y="5907801"/>
                <a:ext cx="3622375" cy="369332"/>
              </a:xfrm>
              <a:prstGeom prst="rect">
                <a:avLst/>
              </a:prstGeom>
              <a:blipFill>
                <a:blip r:embed="rId6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文本框 65">
            <a:extLst>
              <a:ext uri="{FF2B5EF4-FFF2-40B4-BE49-F238E27FC236}">
                <a16:creationId xmlns:a16="http://schemas.microsoft.com/office/drawing/2014/main" id="{49761207-026A-453E-AFC8-C44B23BD5D5F}"/>
              </a:ext>
            </a:extLst>
          </p:cNvPr>
          <p:cNvSpPr txBox="1"/>
          <p:nvPr/>
        </p:nvSpPr>
        <p:spPr>
          <a:xfrm>
            <a:off x="2567613" y="5539595"/>
            <a:ext cx="90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Small</a:t>
            </a:r>
            <a:endParaRPr lang="zh-CN" altLang="en-US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BE665A5-EDAC-498C-A0C3-CEF44B8BF2F7}"/>
              </a:ext>
            </a:extLst>
          </p:cNvPr>
          <p:cNvSpPr txBox="1"/>
          <p:nvPr/>
        </p:nvSpPr>
        <p:spPr>
          <a:xfrm>
            <a:off x="7814277" y="5539595"/>
            <a:ext cx="90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Large</a:t>
            </a:r>
            <a:endParaRPr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7D0AE6DC-AF59-48E7-9DDC-85DB792AE8F0}"/>
              </a:ext>
            </a:extLst>
          </p:cNvPr>
          <p:cNvSpPr txBox="1"/>
          <p:nvPr/>
        </p:nvSpPr>
        <p:spPr>
          <a:xfrm>
            <a:off x="838200" y="5397752"/>
            <a:ext cx="1890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Better Generalization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C90015B4-0960-4F21-8536-B8B01879445E}"/>
              </a:ext>
            </a:extLst>
          </p:cNvPr>
          <p:cNvSpPr txBox="1"/>
          <p:nvPr/>
        </p:nvSpPr>
        <p:spPr>
          <a:xfrm>
            <a:off x="8733974" y="5397357"/>
            <a:ext cx="1890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4472C4"/>
                </a:solidFill>
              </a:rPr>
              <a:t>Better Personalization</a:t>
            </a:r>
            <a:endParaRPr lang="zh-CN" altLang="en-US" b="1" dirty="0">
              <a:solidFill>
                <a:srgbClr val="4472C4"/>
              </a:solidFill>
            </a:endParaRPr>
          </a:p>
        </p:txBody>
      </p:sp>
      <p:sp>
        <p:nvSpPr>
          <p:cNvPr id="50" name="箭头: 右 49">
            <a:extLst>
              <a:ext uri="{FF2B5EF4-FFF2-40B4-BE49-F238E27FC236}">
                <a16:creationId xmlns:a16="http://schemas.microsoft.com/office/drawing/2014/main" id="{C97ED25E-5DF7-4AA9-9404-3029B95F0EB7}"/>
              </a:ext>
            </a:extLst>
          </p:cNvPr>
          <p:cNvSpPr/>
          <p:nvPr/>
        </p:nvSpPr>
        <p:spPr>
          <a:xfrm>
            <a:off x="5217932" y="2411772"/>
            <a:ext cx="597682" cy="635420"/>
          </a:xfrm>
          <a:prstGeom prst="rightArrow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66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3142E3B-E031-439B-A142-8FFEE769E7CF}"/>
              </a:ext>
            </a:extLst>
          </p:cNvPr>
          <p:cNvGrpSpPr/>
          <p:nvPr/>
        </p:nvGrpSpPr>
        <p:grpSpPr>
          <a:xfrm>
            <a:off x="6056054" y="1166070"/>
            <a:ext cx="5474637" cy="3136633"/>
            <a:chOff x="6056054" y="1166070"/>
            <a:chExt cx="5474637" cy="3136633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66628B6C-F89E-437F-BE68-5CBAA25BAF2A}"/>
                </a:ext>
              </a:extLst>
            </p:cNvPr>
            <p:cNvSpPr/>
            <p:nvPr/>
          </p:nvSpPr>
          <p:spPr>
            <a:xfrm>
              <a:off x="6065127" y="1166070"/>
              <a:ext cx="5465014" cy="31366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>
              <a:outerShdw blurRad="508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402E8A9A-11B5-4D5F-AFC6-F72FA1F5DD0C}"/>
                </a:ext>
              </a:extLst>
            </p:cNvPr>
            <p:cNvSpPr/>
            <p:nvPr/>
          </p:nvSpPr>
          <p:spPr>
            <a:xfrm>
              <a:off x="6056054" y="1751723"/>
              <a:ext cx="5474637" cy="255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FB896228-FE4D-442F-BFB2-1E0AB4B5ABFC}"/>
                </a:ext>
              </a:extLst>
            </p:cNvPr>
            <p:cNvSpPr txBox="1"/>
            <p:nvPr/>
          </p:nvSpPr>
          <p:spPr>
            <a:xfrm>
              <a:off x="6138813" y="1238687"/>
              <a:ext cx="516103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chemeClr val="tx1"/>
                  </a:solidFill>
                  <a:cs typeface="Times New Roman" panose="02020603050405020304" pitchFamily="18" charset="0"/>
                </a:rPr>
                <a:t>Upper Bound of Personalization Error</a:t>
              </a:r>
              <a:endPara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5A42339E-B1A1-4B7E-8346-508EAF56D50C}"/>
                    </a:ext>
                  </a:extLst>
                </p:cNvPr>
                <p:cNvSpPr txBox="1"/>
                <p:nvPr/>
              </p:nvSpPr>
              <p:spPr>
                <a:xfrm>
                  <a:off x="6243028" y="1772969"/>
                  <a:ext cx="5161039" cy="15071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zh-CN" dirty="0"/>
                    <a:t>Define the gap between the foundation meta-model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</m:oMath>
                  </a14:m>
                  <a:r>
                    <a:rPr lang="en-US" altLang="zh-CN" dirty="0"/>
                    <a:t> and the optimal model of target agent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a14:m>
                  <a:r>
                    <a:rPr lang="zh-CN" altLang="en-US" dirty="0"/>
                    <a:t> </a:t>
                  </a:r>
                  <a:r>
                    <a:rPr lang="en-US" altLang="zh-CN" dirty="0"/>
                    <a:t>as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a14:m>
                  <a:r>
                    <a:rPr lang="en-US" altLang="zh-CN" dirty="0"/>
                    <a:t>, i.e., </a:t>
                  </a:r>
                  <a14:m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a14:m>
                  <a:r>
                    <a:rPr lang="en-US" altLang="zh-CN" dirty="0"/>
                    <a:t>, with </a:t>
                  </a:r>
                  <a14:m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d>
                            <m:d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a14:m>
                  <a:r>
                    <a:rPr lang="en-US" altLang="zh-CN" dirty="0"/>
                    <a:t>, we have    </a:t>
                  </a:r>
                  <a:endParaRPr lang="zh-CN" altLang="en-US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5A42339E-B1A1-4B7E-8346-508EAF56D5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3028" y="1772969"/>
                  <a:ext cx="5161039" cy="1507144"/>
                </a:xfrm>
                <a:prstGeom prst="rect">
                  <a:avLst/>
                </a:prstGeom>
                <a:blipFill>
                  <a:blip r:embed="rId7"/>
                  <a:stretch>
                    <a:fillRect l="-945" r="-1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49E622AD-443C-4530-9587-5A21F0A5A442}"/>
                    </a:ext>
                  </a:extLst>
                </p:cNvPr>
                <p:cNvSpPr txBox="1"/>
                <p:nvPr/>
              </p:nvSpPr>
              <p:spPr>
                <a:xfrm>
                  <a:off x="6886458" y="3424560"/>
                  <a:ext cx="3665747" cy="62799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ℰ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𝑝𝑒𝑟</m:t>
                            </m:r>
                          </m:sub>
                        </m:sSub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𝒪</m:t>
                        </m:r>
                        <m:d>
                          <m:d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den>
                            </m:f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𝒪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bSup>
                              <m:sSub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𝐼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f>
                                      <m:f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zh-CN" alt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num>
                                      <m:den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49E622AD-443C-4530-9587-5A21F0A5A4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6458" y="3424560"/>
                  <a:ext cx="3665747" cy="62799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B60D0B35-A6BC-47CE-9B6E-E95EC4A14260}"/>
                  </a:ext>
                </a:extLst>
              </p:cNvPr>
              <p:cNvSpPr txBox="1"/>
              <p:nvPr/>
            </p:nvSpPr>
            <p:spPr>
              <a:xfrm>
                <a:off x="1081402" y="3947795"/>
                <a:ext cx="385898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ℒ</m:t>
                                  </m:r>
                                  <m:d>
                                    <m:d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∇</m:t>
                                      </m:r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ℒ</m:t>
                                      </m:r>
                                      <m:d>
                                        <m:dPr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;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B60D0B35-A6BC-47CE-9B6E-E95EC4A14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402" y="3947795"/>
                <a:ext cx="3858986" cy="338554"/>
              </a:xfrm>
              <a:prstGeom prst="rect">
                <a:avLst/>
              </a:prstGeom>
              <a:blipFill>
                <a:blip r:embed="rId9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6213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442977-DB24-40E5-883A-4D296B77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sz="3230"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等线 Light" panose="02010600030101010101" pitchFamily="2" charset="-122"/>
                <a:cs typeface="Calibri" panose="020F0502020204030204" pitchFamily="34" charset="0"/>
              </a:rPr>
              <a:t>Experiment Setup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28">
                <a:extLst>
                  <a:ext uri="{FF2B5EF4-FFF2-40B4-BE49-F238E27FC236}">
                    <a16:creationId xmlns:a16="http://schemas.microsoft.com/office/drawing/2014/main" id="{D7F7C38D-43CD-4D7C-965C-BD0CE8BD3F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2013736"/>
                  </p:ext>
                </p:extLst>
              </p:nvPr>
            </p:nvGraphicFramePr>
            <p:xfrm>
              <a:off x="6053868" y="1659594"/>
              <a:ext cx="5468384" cy="35330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75266">
                      <a:extLst>
                        <a:ext uri="{9D8B030D-6E8A-4147-A177-3AD203B41FA5}">
                          <a16:colId xmlns:a16="http://schemas.microsoft.com/office/drawing/2014/main" val="1823220055"/>
                        </a:ext>
                      </a:extLst>
                    </a:gridCol>
                    <a:gridCol w="1399540">
                      <a:extLst>
                        <a:ext uri="{9D8B030D-6E8A-4147-A177-3AD203B41FA5}">
                          <a16:colId xmlns:a16="http://schemas.microsoft.com/office/drawing/2014/main" val="1602386045"/>
                        </a:ext>
                      </a:extLst>
                    </a:gridCol>
                    <a:gridCol w="1393578">
                      <a:extLst>
                        <a:ext uri="{9D8B030D-6E8A-4147-A177-3AD203B41FA5}">
                          <a16:colId xmlns:a16="http://schemas.microsoft.com/office/drawing/2014/main" val="1404072385"/>
                        </a:ext>
                      </a:extLst>
                    </a:gridCol>
                  </a:tblGrid>
                  <a:tr h="43011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aseline="0" dirty="0">
                              <a:solidFill>
                                <a:schemeClr val="bg1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Dataset</a:t>
                          </a:r>
                          <a:endParaRPr lang="zh-CN" altLang="en-US" baseline="0" dirty="0">
                            <a:solidFill>
                              <a:schemeClr val="bg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MNIST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/>
                            <a:t>Widar</a:t>
                          </a:r>
                          <a:r>
                            <a:rPr lang="en-US" altLang="zh-CN" dirty="0"/>
                            <a:t> 3.0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09405324"/>
                      </a:ext>
                    </a:extLst>
                  </a:tr>
                  <a:tr h="4301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Number of agents (K)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10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altLang="zh-C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3528912"/>
                      </a:ext>
                    </a:extLst>
                  </a:tr>
                  <a:tr h="43011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Number of collaborative agents (S)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5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altLang="zh-C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42152267"/>
                      </a:ext>
                    </a:extLst>
                  </a:tr>
                  <a:tr h="4301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Mini-batch size (B)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32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altLang="zh-C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49324190"/>
                      </a:ext>
                    </a:extLst>
                  </a:tr>
                  <a:tr h="7423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Learning rate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Inner layer (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oMath>
                          </a14:m>
                          <a:r>
                            <a:rPr lang="en-US" altLang="zh-CN" dirty="0"/>
                            <a:t>): 1e-3</a:t>
                          </a:r>
                        </a:p>
                        <a:p>
                          <a:pPr algn="ctr"/>
                          <a:r>
                            <a:rPr lang="en-US" altLang="zh-CN" dirty="0"/>
                            <a:t>Outer layer (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oMath>
                          </a14:m>
                          <a:r>
                            <a:rPr lang="en-US" altLang="zh-CN" dirty="0"/>
                            <a:t>): 5e-3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32722094"/>
                      </a:ext>
                    </a:extLst>
                  </a:tr>
                  <a:tr h="4301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Collaboration rounds (T)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1,000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200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02308285"/>
                      </a:ext>
                    </a:extLst>
                  </a:tr>
                  <a:tr h="4301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Local adaptation steps (E)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30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altLang="zh-C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42786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28">
                <a:extLst>
                  <a:ext uri="{FF2B5EF4-FFF2-40B4-BE49-F238E27FC236}">
                    <a16:creationId xmlns:a16="http://schemas.microsoft.com/office/drawing/2014/main" id="{D7F7C38D-43CD-4D7C-965C-BD0CE8BD3F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2013736"/>
                  </p:ext>
                </p:extLst>
              </p:nvPr>
            </p:nvGraphicFramePr>
            <p:xfrm>
              <a:off x="6053868" y="1659594"/>
              <a:ext cx="5468384" cy="35330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75266">
                      <a:extLst>
                        <a:ext uri="{9D8B030D-6E8A-4147-A177-3AD203B41FA5}">
                          <a16:colId xmlns:a16="http://schemas.microsoft.com/office/drawing/2014/main" val="1823220055"/>
                        </a:ext>
                      </a:extLst>
                    </a:gridCol>
                    <a:gridCol w="1399540">
                      <a:extLst>
                        <a:ext uri="{9D8B030D-6E8A-4147-A177-3AD203B41FA5}">
                          <a16:colId xmlns:a16="http://schemas.microsoft.com/office/drawing/2014/main" val="1602386045"/>
                        </a:ext>
                      </a:extLst>
                    </a:gridCol>
                    <a:gridCol w="1393578">
                      <a:extLst>
                        <a:ext uri="{9D8B030D-6E8A-4147-A177-3AD203B41FA5}">
                          <a16:colId xmlns:a16="http://schemas.microsoft.com/office/drawing/2014/main" val="1404072385"/>
                        </a:ext>
                      </a:extLst>
                    </a:gridCol>
                  </a:tblGrid>
                  <a:tr h="43011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aseline="0" dirty="0">
                              <a:solidFill>
                                <a:schemeClr val="bg1"/>
                              </a:solidFill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Dataset</a:t>
                          </a:r>
                          <a:endParaRPr lang="zh-CN" altLang="en-US" baseline="0" dirty="0">
                            <a:solidFill>
                              <a:schemeClr val="bg1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MNIST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err="1"/>
                            <a:t>Widar</a:t>
                          </a:r>
                          <a:r>
                            <a:rPr lang="en-US" altLang="zh-CN" dirty="0"/>
                            <a:t> 3.0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09405324"/>
                      </a:ext>
                    </a:extLst>
                  </a:tr>
                  <a:tr h="4301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Number of agents (K)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10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altLang="zh-C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352891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Number of collaborative agents (S)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5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altLang="zh-C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42152267"/>
                      </a:ext>
                    </a:extLst>
                  </a:tr>
                  <a:tr h="4301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Mini-batch size (B)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32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altLang="zh-C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49324190"/>
                      </a:ext>
                    </a:extLst>
                  </a:tr>
                  <a:tr h="7423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Learning rate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5861" t="-260656" r="-871" b="-12459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32722094"/>
                      </a:ext>
                    </a:extLst>
                  </a:tr>
                  <a:tr h="4301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Collaboration rounds (T)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1,000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200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02308285"/>
                      </a:ext>
                    </a:extLst>
                  </a:tr>
                  <a:tr h="4301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Local adaptation steps (E)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30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altLang="zh-C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427862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F3509545-866F-4952-AD06-649A76743F4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7789"/>
          <a:stretch/>
        </p:blipFill>
        <p:spPr>
          <a:xfrm>
            <a:off x="1264259" y="4923710"/>
            <a:ext cx="4047960" cy="1507239"/>
          </a:xfrm>
          <a:prstGeom prst="rect">
            <a:avLst/>
          </a:prstGeom>
        </p:spPr>
      </p:pic>
      <p:pic>
        <p:nvPicPr>
          <p:cNvPr id="1028" name="Picture 4" descr="深度学习入门项目之经典数据集MNIST的分类（Pytorch）_mnist数据集第三方工具-CSDN博客">
            <a:extLst>
              <a:ext uri="{FF2B5EF4-FFF2-40B4-BE49-F238E27FC236}">
                <a16:creationId xmlns:a16="http://schemas.microsoft.com/office/drawing/2014/main" id="{0313EF07-398D-47CD-897E-FECA411F75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2"/>
          <a:stretch/>
        </p:blipFill>
        <p:spPr bwMode="auto">
          <a:xfrm>
            <a:off x="1655201" y="2425098"/>
            <a:ext cx="2904802" cy="1464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B2D406B6-CF20-4145-9451-B5D1ACF84818}"/>
              </a:ext>
            </a:extLst>
          </p:cNvPr>
          <p:cNvSpPr txBox="1"/>
          <p:nvPr/>
        </p:nvSpPr>
        <p:spPr>
          <a:xfrm>
            <a:off x="714375" y="1067251"/>
            <a:ext cx="15049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tx2"/>
                </a:solidFill>
                <a:latin typeface="+mn-lt"/>
              </a:rPr>
              <a:t>Datasets</a:t>
            </a:r>
            <a:endParaRPr lang="zh-CN" altLang="en-US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DF3CE40-D80F-4217-8497-FFACD46630DF}"/>
              </a:ext>
            </a:extLst>
          </p:cNvPr>
          <p:cNvSpPr txBox="1"/>
          <p:nvPr/>
        </p:nvSpPr>
        <p:spPr>
          <a:xfrm>
            <a:off x="838200" y="1505021"/>
            <a:ext cx="50052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b="1" dirty="0">
                <a:cs typeface="Times New Roman" panose="02020603050405020304" pitchFamily="18" charset="0"/>
              </a:rPr>
              <a:t>MNIST</a:t>
            </a:r>
            <a:r>
              <a:rPr lang="en-US" altLang="zh-CN" sz="1800" b="1" baseline="30000" dirty="0">
                <a:cs typeface="Times New Roman" panose="02020603050405020304" pitchFamily="18" charset="0"/>
              </a:rPr>
              <a:t>[1]</a:t>
            </a:r>
            <a:r>
              <a:rPr lang="en-US" altLang="zh-CN" sz="1800" b="1" dirty="0">
                <a:cs typeface="Times New Roman" panose="02020603050405020304" pitchFamily="18" charset="0"/>
              </a:rPr>
              <a:t> 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cs typeface="Times New Roman" panose="02020603050405020304" pitchFamily="18" charset="0"/>
              </a:rPr>
              <a:t>Handwritten digit image dataset where each image consists of 28×28 gray-scale pixels</a:t>
            </a:r>
            <a:endParaRPr lang="zh-CN" altLang="en-US" dirty="0"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19E4C3E-A0EE-4571-AC32-8F117F1F87BF}"/>
              </a:ext>
            </a:extLst>
          </p:cNvPr>
          <p:cNvSpPr txBox="1"/>
          <p:nvPr/>
        </p:nvSpPr>
        <p:spPr>
          <a:xfrm>
            <a:off x="838200" y="3967985"/>
            <a:ext cx="48232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b="1" dirty="0" err="1">
                <a:cs typeface="Times New Roman" panose="02020603050405020304" pitchFamily="18" charset="0"/>
              </a:rPr>
              <a:t>Widar</a:t>
            </a:r>
            <a:r>
              <a:rPr lang="en-US" altLang="zh-CN" b="1" dirty="0">
                <a:cs typeface="Times New Roman" panose="02020603050405020304" pitchFamily="18" charset="0"/>
              </a:rPr>
              <a:t> 3.0</a:t>
            </a:r>
            <a:r>
              <a:rPr lang="en-US" altLang="zh-CN" sz="1800" b="1" baseline="30000" dirty="0">
                <a:cs typeface="Times New Roman" panose="02020603050405020304" pitchFamily="18" charset="0"/>
              </a:rPr>
              <a:t>[2]</a:t>
            </a:r>
            <a:r>
              <a:rPr lang="en-US" altLang="zh-CN" sz="1800" b="1" dirty="0">
                <a:cs typeface="Times New Roman" panose="02020603050405020304" pitchFamily="18" charset="0"/>
              </a:rPr>
              <a:t> </a:t>
            </a:r>
            <a:endParaRPr lang="en-US" altLang="zh-CN" b="1" dirty="0"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cs typeface="Times New Roman" panose="02020603050405020304" pitchFamily="18" charset="0"/>
              </a:rPr>
              <a:t>RF-based human gesture recognition dataset recorded by 6 distributed Wi-Fi receivers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53A7B3E-0868-474E-861F-3A4CC6B52BDC}"/>
              </a:ext>
            </a:extLst>
          </p:cNvPr>
          <p:cNvSpPr txBox="1"/>
          <p:nvPr/>
        </p:nvSpPr>
        <p:spPr>
          <a:xfrm>
            <a:off x="5998375" y="1067251"/>
            <a:ext cx="36979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tx2"/>
                </a:solidFill>
                <a:latin typeface="+mn-lt"/>
              </a:rPr>
              <a:t>Default Parameters</a:t>
            </a:r>
            <a:endParaRPr lang="zh-CN" altLang="en-US" sz="24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CE046C5-06C3-474D-87ED-0DDBFA54A43E}"/>
              </a:ext>
            </a:extLst>
          </p:cNvPr>
          <p:cNvSpPr txBox="1"/>
          <p:nvPr/>
        </p:nvSpPr>
        <p:spPr>
          <a:xfrm>
            <a:off x="6034968" y="5323324"/>
            <a:ext cx="557283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Y.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LeCun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“The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mnist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 of handwritten digits,” http://yann. lecun.com/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exdb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mnist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/, 1998.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Y. Zheng, Y. Zhang, K. Qian, G. Zhang, Y. Liu, C. Wu, and Z. Yang, “Zero-effort cross-domain gesture recognition with wi-fi,” in ACM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MobiSys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Seoul, Korea, Jun. 2019.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A55E0F4-4FA8-4275-8266-5A806E124922}"/>
              </a:ext>
            </a:extLst>
          </p:cNvPr>
          <p:cNvCxnSpPr>
            <a:cxnSpLocks/>
          </p:cNvCxnSpPr>
          <p:nvPr/>
        </p:nvCxnSpPr>
        <p:spPr>
          <a:xfrm>
            <a:off x="5746602" y="1412042"/>
            <a:ext cx="0" cy="4407733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457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442977-DB24-40E5-883A-4D296B77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sz="3230"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等线 Light" panose="02010600030101010101" pitchFamily="2" charset="-122"/>
                <a:cs typeface="Calibri" panose="020F0502020204030204" pitchFamily="34" charset="0"/>
              </a:rPr>
              <a:t>Performance of MAN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776B24-D23B-4529-910A-FF86963FE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4" y="1257301"/>
            <a:ext cx="5471146" cy="3170295"/>
          </a:xfrm>
          <a:prstGeom prst="rect">
            <a:avLst/>
          </a:prstGeom>
        </p:spPr>
      </p:pic>
      <p:sp>
        <p:nvSpPr>
          <p:cNvPr id="17" name="椭圆 16">
            <a:extLst>
              <a:ext uri="{FF2B5EF4-FFF2-40B4-BE49-F238E27FC236}">
                <a16:creationId xmlns:a16="http://schemas.microsoft.com/office/drawing/2014/main" id="{553E4FE9-E1AB-402A-8117-3C7C21C9C5AE}"/>
              </a:ext>
            </a:extLst>
          </p:cNvPr>
          <p:cNvSpPr/>
          <p:nvPr/>
        </p:nvSpPr>
        <p:spPr>
          <a:xfrm>
            <a:off x="5881603" y="2419994"/>
            <a:ext cx="169418" cy="20032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DDE410D6-B610-4566-A927-12CA485CA484}"/>
              </a:ext>
            </a:extLst>
          </p:cNvPr>
          <p:cNvCxnSpPr>
            <a:cxnSpLocks/>
            <a:stCxn id="17" idx="7"/>
            <a:endCxn id="24" idx="2"/>
          </p:cNvCxnSpPr>
          <p:nvPr/>
        </p:nvCxnSpPr>
        <p:spPr>
          <a:xfrm flipV="1">
            <a:off x="6026210" y="2098000"/>
            <a:ext cx="124970" cy="35133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28119800-6086-4E8D-A8A8-8786B988732C}"/>
              </a:ext>
            </a:extLst>
          </p:cNvPr>
          <p:cNvSpPr txBox="1"/>
          <p:nvPr/>
        </p:nvSpPr>
        <p:spPr>
          <a:xfrm>
            <a:off x="5815398" y="1728668"/>
            <a:ext cx="671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best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F8C18342-589D-4F6C-B642-A1D1E41B3CCC}"/>
              </a:ext>
            </a:extLst>
          </p:cNvPr>
          <p:cNvSpPr/>
          <p:nvPr/>
        </p:nvSpPr>
        <p:spPr>
          <a:xfrm>
            <a:off x="4797332" y="2419994"/>
            <a:ext cx="169418" cy="20032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5B723169-EA39-4442-AA0C-7AA2ADF2B2D2}"/>
              </a:ext>
            </a:extLst>
          </p:cNvPr>
          <p:cNvCxnSpPr>
            <a:cxnSpLocks/>
            <a:stCxn id="25" idx="7"/>
          </p:cNvCxnSpPr>
          <p:nvPr/>
        </p:nvCxnSpPr>
        <p:spPr>
          <a:xfrm flipV="1">
            <a:off x="4941939" y="1955871"/>
            <a:ext cx="218520" cy="493459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683571F1-95E4-4CE9-BCE3-BC16EF29868F}"/>
              </a:ext>
            </a:extLst>
          </p:cNvPr>
          <p:cNvSpPr txBox="1"/>
          <p:nvPr/>
        </p:nvSpPr>
        <p:spPr>
          <a:xfrm>
            <a:off x="4941939" y="1647626"/>
            <a:ext cx="800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worst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9FD798F0-3866-4E5F-B0F2-687AB25FD6D1}"/>
              </a:ext>
            </a:extLst>
          </p:cNvPr>
          <p:cNvSpPr/>
          <p:nvPr/>
        </p:nvSpPr>
        <p:spPr>
          <a:xfrm>
            <a:off x="1976763" y="3891260"/>
            <a:ext cx="710637" cy="463479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9C5BAF25-C316-4348-85B0-6ACF707C009C}"/>
              </a:ext>
            </a:extLst>
          </p:cNvPr>
          <p:cNvCxnSpPr>
            <a:cxnSpLocks/>
            <a:stCxn id="30" idx="5"/>
          </p:cNvCxnSpPr>
          <p:nvPr/>
        </p:nvCxnSpPr>
        <p:spPr>
          <a:xfrm>
            <a:off x="2583329" y="4286865"/>
            <a:ext cx="236219" cy="21912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E164973E-1BBF-41DA-A146-4A656DD24A8A}"/>
              </a:ext>
            </a:extLst>
          </p:cNvPr>
          <p:cNvSpPr txBox="1"/>
          <p:nvPr/>
        </p:nvSpPr>
        <p:spPr>
          <a:xfrm>
            <a:off x="2179908" y="4436811"/>
            <a:ext cx="15336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C00000"/>
                </a:solidFill>
              </a:rPr>
              <a:t>generalization performance</a:t>
            </a:r>
            <a:endParaRPr lang="zh-CN" altLang="en-US" sz="1600" dirty="0">
              <a:solidFill>
                <a:srgbClr val="C00000"/>
              </a:solidFill>
            </a:endParaRP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407C31CE-4CC9-4426-A92B-46C79ED66BDB}"/>
              </a:ext>
            </a:extLst>
          </p:cNvPr>
          <p:cNvSpPr/>
          <p:nvPr/>
        </p:nvSpPr>
        <p:spPr>
          <a:xfrm>
            <a:off x="2116875" y="3388585"/>
            <a:ext cx="430413" cy="463479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C947C92F-E5AA-4533-89A1-5570D45C2B1F}"/>
              </a:ext>
            </a:extLst>
          </p:cNvPr>
          <p:cNvCxnSpPr>
            <a:cxnSpLocks/>
            <a:stCxn id="43" idx="3"/>
          </p:cNvCxnSpPr>
          <p:nvPr/>
        </p:nvCxnSpPr>
        <p:spPr>
          <a:xfrm flipH="1">
            <a:off x="1366861" y="3784189"/>
            <a:ext cx="813047" cy="721799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E2B012FB-6348-4D91-BE65-4BC369175448}"/>
              </a:ext>
            </a:extLst>
          </p:cNvPr>
          <p:cNvSpPr txBox="1"/>
          <p:nvPr/>
        </p:nvSpPr>
        <p:spPr>
          <a:xfrm>
            <a:off x="429955" y="4457976"/>
            <a:ext cx="15336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rgbClr val="C00000"/>
                </a:solidFill>
              </a:rPr>
              <a:t>personalization performance</a:t>
            </a:r>
            <a:endParaRPr lang="zh-CN" altLang="en-US" sz="1600" dirty="0">
              <a:solidFill>
                <a:srgbClr val="C00000"/>
              </a:solidFill>
            </a:endParaRP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85E88420-4A24-4BD9-A696-0114C1283B18}"/>
              </a:ext>
            </a:extLst>
          </p:cNvPr>
          <p:cNvGrpSpPr/>
          <p:nvPr/>
        </p:nvGrpSpPr>
        <p:grpSpPr>
          <a:xfrm>
            <a:off x="952752" y="5060977"/>
            <a:ext cx="5114646" cy="1548366"/>
            <a:chOff x="952752" y="5060977"/>
            <a:chExt cx="5114646" cy="1548366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72962494-CCCC-4085-930F-734DE41C72F4}"/>
                </a:ext>
              </a:extLst>
            </p:cNvPr>
            <p:cNvSpPr/>
            <p:nvPr/>
          </p:nvSpPr>
          <p:spPr>
            <a:xfrm>
              <a:off x="952752" y="5261746"/>
              <a:ext cx="5114646" cy="1347597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0000" indent="-36000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altLang="zh-CN" dirty="0">
                  <a:solidFill>
                    <a:schemeClr val="tx1"/>
                  </a:solidFill>
                </a:rPr>
                <a:t>The proposed MAN demonstrates superior performance in both personalization and generalization, achieving a favorable tradeoff.</a:t>
              </a: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4D119877-7F24-4F98-9829-3571C70E74F4}"/>
                </a:ext>
              </a:extLst>
            </p:cNvPr>
            <p:cNvSpPr/>
            <p:nvPr/>
          </p:nvSpPr>
          <p:spPr>
            <a:xfrm>
              <a:off x="2709658" y="5060977"/>
              <a:ext cx="1600833" cy="35839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Observation 1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9B3BD486-3DF4-4FC9-9E54-B3AA44D578D4}"/>
              </a:ext>
            </a:extLst>
          </p:cNvPr>
          <p:cNvGrpSpPr/>
          <p:nvPr/>
        </p:nvGrpSpPr>
        <p:grpSpPr>
          <a:xfrm>
            <a:off x="7185508" y="4812898"/>
            <a:ext cx="4576537" cy="1782196"/>
            <a:chOff x="1182664" y="5099682"/>
            <a:chExt cx="4795278" cy="1509661"/>
          </a:xfrm>
        </p:grpSpPr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04D8FBEE-AA3D-4E72-AC9E-48E9B63457ED}"/>
                </a:ext>
              </a:extLst>
            </p:cNvPr>
            <p:cNvSpPr/>
            <p:nvPr/>
          </p:nvSpPr>
          <p:spPr>
            <a:xfrm>
              <a:off x="1182664" y="5261746"/>
              <a:ext cx="4795278" cy="1347597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0000" indent="-360000">
                <a:lnSpc>
                  <a:spcPct val="120000"/>
                </a:lnSpc>
                <a:buFont typeface="Wingdings" panose="05000000000000000000" pitchFamily="2" charset="2"/>
                <a:buChar char="ü"/>
              </a:pPr>
              <a:r>
                <a:rPr lang="en-US" altLang="zh-CN" dirty="0">
                  <a:solidFill>
                    <a:schemeClr val="tx1"/>
                  </a:solidFill>
                </a:rPr>
                <a:t>Accuracy always improves as the number of agents increases.</a:t>
              </a:r>
            </a:p>
            <a:p>
              <a:pPr marL="360000" indent="-360000">
                <a:lnSpc>
                  <a:spcPct val="120000"/>
                </a:lnSpc>
                <a:buFont typeface="Wingdings" panose="05000000000000000000" pitchFamily="2" charset="2"/>
                <a:buChar char="ü"/>
              </a:pPr>
              <a:r>
                <a:rPr lang="en-US" altLang="zh-CN" dirty="0">
                  <a:solidFill>
                    <a:schemeClr val="tx1"/>
                  </a:solidFill>
                </a:rPr>
                <a:t>This improvement is most pronounced in moderately heterogeneous scenarios.</a:t>
              </a: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9B7F341F-8118-4C52-93E4-65DD13857E43}"/>
                </a:ext>
              </a:extLst>
            </p:cNvPr>
            <p:cNvSpPr/>
            <p:nvPr/>
          </p:nvSpPr>
          <p:spPr>
            <a:xfrm>
              <a:off x="2788861" y="5099682"/>
              <a:ext cx="1600833" cy="30358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Observation 2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6797A207-8A54-488C-B9DA-9F85E1C8D562}"/>
              </a:ext>
            </a:extLst>
          </p:cNvPr>
          <p:cNvCxnSpPr>
            <a:cxnSpLocks/>
          </p:cNvCxnSpPr>
          <p:nvPr/>
        </p:nvCxnSpPr>
        <p:spPr>
          <a:xfrm>
            <a:off x="6761622" y="1513488"/>
            <a:ext cx="0" cy="4756683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CB6E9C7E-2ACA-4ACB-8432-7FD7CA78E4FF}"/>
              </a:ext>
            </a:extLst>
          </p:cNvPr>
          <p:cNvGrpSpPr/>
          <p:nvPr/>
        </p:nvGrpSpPr>
        <p:grpSpPr>
          <a:xfrm>
            <a:off x="7248563" y="1312246"/>
            <a:ext cx="4036457" cy="3278993"/>
            <a:chOff x="7348125" y="1403083"/>
            <a:chExt cx="3786600" cy="3114184"/>
          </a:xfrm>
        </p:grpSpPr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10DAD66E-E12F-4BFB-BBD3-492FF5A83CA6}"/>
                </a:ext>
              </a:extLst>
            </p:cNvPr>
            <p:cNvGrpSpPr/>
            <p:nvPr/>
          </p:nvGrpSpPr>
          <p:grpSpPr>
            <a:xfrm>
              <a:off x="7348125" y="1403083"/>
              <a:ext cx="3786600" cy="2835542"/>
              <a:chOff x="7236009" y="1451898"/>
              <a:chExt cx="4198896" cy="3171247"/>
            </a:xfrm>
          </p:grpSpPr>
          <p:pic>
            <p:nvPicPr>
              <p:cNvPr id="55" name="图片 54">
                <a:extLst>
                  <a:ext uri="{FF2B5EF4-FFF2-40B4-BE49-F238E27FC236}">
                    <a16:creationId xmlns:a16="http://schemas.microsoft.com/office/drawing/2014/main" id="{4C8C32C2-7147-4A0F-8F78-3C9EB0EA3C4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b="8573"/>
              <a:stretch/>
            </p:blipFill>
            <p:spPr>
              <a:xfrm>
                <a:off x="7236009" y="1451898"/>
                <a:ext cx="4198896" cy="2850228"/>
              </a:xfrm>
              <a:prstGeom prst="rect">
                <a:avLst/>
              </a:prstGeom>
            </p:spPr>
          </p:pic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BD37E0C2-02C4-416E-B3A9-A52E3F4E981D}"/>
                  </a:ext>
                </a:extLst>
              </p:cNvPr>
              <p:cNvSpPr txBox="1"/>
              <p:nvPr/>
            </p:nvSpPr>
            <p:spPr>
              <a:xfrm>
                <a:off x="8092570" y="4223035"/>
                <a:ext cx="29100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# of agents</a:t>
                </a:r>
                <a:endPara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2EDCB3EB-98BF-43B7-8331-CEFFB11764BB}"/>
                    </a:ext>
                  </a:extLst>
                </p:cNvPr>
                <p:cNvSpPr txBox="1"/>
                <p:nvPr/>
              </p:nvSpPr>
              <p:spPr>
                <a:xfrm>
                  <a:off x="7459114" y="4195729"/>
                  <a:ext cx="3564621" cy="3215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600" dirty="0">
                      <a:solidFill>
                        <a:srgbClr val="C00000"/>
                      </a:solidFill>
                    </a:rPr>
                    <a:t>* </a:t>
                  </a:r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a14:m>
                  <a:r>
                    <a:rPr lang="en-US" altLang="zh-CN" sz="1600" i="1" dirty="0">
                      <a:solidFill>
                        <a:srgbClr val="C00000"/>
                      </a:solidFill>
                    </a:rPr>
                    <a:t> denotes the non-</a:t>
                  </a:r>
                  <a:r>
                    <a:rPr lang="en-US" altLang="zh-CN" sz="1600" i="1" dirty="0" err="1">
                      <a:solidFill>
                        <a:srgbClr val="C00000"/>
                      </a:solidFill>
                    </a:rPr>
                    <a:t>i.i.d</a:t>
                  </a:r>
                  <a:r>
                    <a:rPr lang="en-US" altLang="zh-CN" sz="1600" i="1" dirty="0">
                      <a:solidFill>
                        <a:srgbClr val="C00000"/>
                      </a:solidFill>
                    </a:rPr>
                    <a:t>. degree</a:t>
                  </a:r>
                  <a:endParaRPr lang="zh-CN" altLang="en-US" sz="1600" i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2EDCB3EB-98BF-43B7-8331-CEFFB11764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9114" y="4195729"/>
                  <a:ext cx="3564621" cy="321538"/>
                </a:xfrm>
                <a:prstGeom prst="rect">
                  <a:avLst/>
                </a:prstGeom>
                <a:blipFill>
                  <a:blip r:embed="rId5"/>
                  <a:stretch>
                    <a:fillRect t="-5455" b="-236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AF710901-BC48-467A-BD4B-5223104DCE29}"/>
              </a:ext>
            </a:extLst>
          </p:cNvPr>
          <p:cNvCxnSpPr>
            <a:cxnSpLocks/>
          </p:cNvCxnSpPr>
          <p:nvPr/>
        </p:nvCxnSpPr>
        <p:spPr>
          <a:xfrm flipH="1">
            <a:off x="1366862" y="2520154"/>
            <a:ext cx="328588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9F23B24E-2BB2-44C6-92DC-772C99A7DBF5}"/>
              </a:ext>
            </a:extLst>
          </p:cNvPr>
          <p:cNvSpPr txBox="1"/>
          <p:nvPr/>
        </p:nvSpPr>
        <p:spPr>
          <a:xfrm>
            <a:off x="89457" y="2328183"/>
            <a:ext cx="1411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10 E-Agents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283CAFC6-D62A-46EA-92FE-CD3B479E4646}"/>
              </a:ext>
            </a:extLst>
          </p:cNvPr>
          <p:cNvCxnSpPr>
            <a:cxnSpLocks/>
          </p:cNvCxnSpPr>
          <p:nvPr/>
        </p:nvCxnSpPr>
        <p:spPr>
          <a:xfrm flipH="1">
            <a:off x="1366861" y="3220037"/>
            <a:ext cx="328588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608E5F88-C935-45DD-B892-F38A86FF932B}"/>
              </a:ext>
            </a:extLst>
          </p:cNvPr>
          <p:cNvSpPr txBox="1"/>
          <p:nvPr/>
        </p:nvSpPr>
        <p:spPr>
          <a:xfrm>
            <a:off x="89456" y="3028066"/>
            <a:ext cx="1411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5 E-Agents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086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442977-DB24-40E5-883A-4D296B77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sz="3230"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等线 Light" panose="02010600030101010101" pitchFamily="2" charset="-122"/>
                <a:cs typeface="Calibri" panose="020F0502020204030204" pitchFamily="34" charset="0"/>
              </a:rPr>
              <a:t>Verification of Theoretical Results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CDF42D8-01A6-4729-806F-F424E0518071}"/>
              </a:ext>
            </a:extLst>
          </p:cNvPr>
          <p:cNvGrpSpPr/>
          <p:nvPr/>
        </p:nvGrpSpPr>
        <p:grpSpPr>
          <a:xfrm>
            <a:off x="942974" y="1031156"/>
            <a:ext cx="2705400" cy="3898404"/>
            <a:chOff x="1295400" y="1278548"/>
            <a:chExt cx="2705400" cy="3898404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0ABA8F31-80CF-4181-953C-DE98B9C8500B}"/>
                </a:ext>
              </a:extLst>
            </p:cNvPr>
            <p:cNvGrpSpPr/>
            <p:nvPr/>
          </p:nvGrpSpPr>
          <p:grpSpPr>
            <a:xfrm>
              <a:off x="1295400" y="1681048"/>
              <a:ext cx="2695574" cy="3495904"/>
              <a:chOff x="747523" y="1647596"/>
              <a:chExt cx="3207713" cy="4505554"/>
            </a:xfrm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35ACC498-C0B8-4A1A-959F-8A747C3D90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7523" y="1647596"/>
                <a:ext cx="3117037" cy="2210030"/>
              </a:xfrm>
              <a:prstGeom prst="rect">
                <a:avLst/>
              </a:prstGeom>
            </p:spPr>
          </p:pic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CD9F32F7-17EE-497E-86C5-C4BB11C708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8199" y="3943120"/>
                <a:ext cx="3117037" cy="2210030"/>
              </a:xfrm>
              <a:prstGeom prst="rect">
                <a:avLst/>
              </a:prstGeom>
            </p:spPr>
          </p:pic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12FCF19-B718-4AB7-A7C4-8DF64FF13169}"/>
                </a:ext>
              </a:extLst>
            </p:cNvPr>
            <p:cNvSpPr txBox="1"/>
            <p:nvPr/>
          </p:nvSpPr>
          <p:spPr>
            <a:xfrm>
              <a:off x="1361772" y="1278548"/>
              <a:ext cx="26390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44546A"/>
                  </a:solidFill>
                </a:rPr>
                <a:t>Global collaboration view</a:t>
              </a:r>
              <a:endParaRPr lang="zh-CN" altLang="en-US" b="1" dirty="0">
                <a:solidFill>
                  <a:srgbClr val="44546A"/>
                </a:solidFill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08F122A-C840-4D24-9EBB-4E60AC190A4A}"/>
              </a:ext>
            </a:extLst>
          </p:cNvPr>
          <p:cNvGrpSpPr/>
          <p:nvPr/>
        </p:nvGrpSpPr>
        <p:grpSpPr>
          <a:xfrm>
            <a:off x="4425139" y="1031156"/>
            <a:ext cx="2639028" cy="3898404"/>
            <a:chOff x="4776485" y="1166070"/>
            <a:chExt cx="2639028" cy="3898404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3C0621A0-070A-453A-A91C-A954ABE14D95}"/>
                </a:ext>
              </a:extLst>
            </p:cNvPr>
            <p:cNvGrpSpPr/>
            <p:nvPr/>
          </p:nvGrpSpPr>
          <p:grpSpPr>
            <a:xfrm>
              <a:off x="4786312" y="1535402"/>
              <a:ext cx="2619375" cy="3529072"/>
              <a:chOff x="4952471" y="791259"/>
              <a:chExt cx="3214431" cy="4128438"/>
            </a:xfrm>
          </p:grpSpPr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846CE4AF-30A5-439F-88A1-F06CF3E2B1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52471" y="791259"/>
                <a:ext cx="3214430" cy="2059084"/>
              </a:xfrm>
              <a:prstGeom prst="rect">
                <a:avLst/>
              </a:prstGeom>
            </p:spPr>
          </p:pic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A54A79DF-7306-4BD3-AE56-978E4B7B41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52472" y="2850343"/>
                <a:ext cx="3214430" cy="2069354"/>
              </a:xfrm>
              <a:prstGeom prst="rect">
                <a:avLst/>
              </a:prstGeom>
            </p:spPr>
          </p:pic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61A18829-733E-4C53-9AE3-4F778BB0424B}"/>
                </a:ext>
              </a:extLst>
            </p:cNvPr>
            <p:cNvSpPr txBox="1"/>
            <p:nvPr/>
          </p:nvSpPr>
          <p:spPr>
            <a:xfrm>
              <a:off x="4776485" y="1166070"/>
              <a:ext cx="26390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44546A"/>
                  </a:solidFill>
                </a:rPr>
                <a:t>Local Adaptation view</a:t>
              </a:r>
              <a:endParaRPr lang="zh-CN" altLang="en-US" b="1" dirty="0">
                <a:solidFill>
                  <a:srgbClr val="44546A"/>
                </a:solidFill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7BBBE6ED-FCE7-4A32-A4E5-8EAD5FCACC0B}"/>
              </a:ext>
            </a:extLst>
          </p:cNvPr>
          <p:cNvGrpSpPr/>
          <p:nvPr/>
        </p:nvGrpSpPr>
        <p:grpSpPr>
          <a:xfrm>
            <a:off x="1313170" y="5039840"/>
            <a:ext cx="5505754" cy="1548366"/>
            <a:chOff x="952752" y="5060977"/>
            <a:chExt cx="5114646" cy="1548366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9082C95F-9F77-4C42-94FB-89F0B267631A}"/>
                </a:ext>
              </a:extLst>
            </p:cNvPr>
            <p:cNvSpPr/>
            <p:nvPr/>
          </p:nvSpPr>
          <p:spPr>
            <a:xfrm>
              <a:off x="952752" y="5261746"/>
              <a:ext cx="5114646" cy="1347597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0000" indent="-36000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altLang="zh-CN" dirty="0">
                  <a:solidFill>
                    <a:schemeClr val="tx1"/>
                  </a:solidFill>
                </a:rPr>
                <a:t>Our theoretical results hold generally.</a:t>
              </a:r>
            </a:p>
            <a:p>
              <a:pPr marL="360000" indent="-36000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altLang="zh-CN" dirty="0">
                  <a:solidFill>
                    <a:schemeClr val="tx1"/>
                  </a:solidFill>
                </a:rPr>
                <a:t>The tradeoff can only be optimized but not entirely eliminated.</a:t>
              </a:r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61C08756-3B63-4DAB-BBF9-4915C9300EF5}"/>
                </a:ext>
              </a:extLst>
            </p:cNvPr>
            <p:cNvSpPr/>
            <p:nvPr/>
          </p:nvSpPr>
          <p:spPr>
            <a:xfrm>
              <a:off x="2709658" y="5060977"/>
              <a:ext cx="1600833" cy="35839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Observation 3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386F4A34-9955-4C3C-9B15-4CCB8EA95943}"/>
              </a:ext>
            </a:extLst>
          </p:cNvPr>
          <p:cNvCxnSpPr>
            <a:cxnSpLocks/>
          </p:cNvCxnSpPr>
          <p:nvPr/>
        </p:nvCxnSpPr>
        <p:spPr>
          <a:xfrm>
            <a:off x="4066047" y="1400488"/>
            <a:ext cx="0" cy="3529072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图片 23">
            <a:extLst>
              <a:ext uri="{FF2B5EF4-FFF2-40B4-BE49-F238E27FC236}">
                <a16:creationId xmlns:a16="http://schemas.microsoft.com/office/drawing/2014/main" id="{5621BDD1-5B05-486D-B604-A9C43B2C39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0020" y="2093713"/>
            <a:ext cx="4000231" cy="2310075"/>
          </a:xfrm>
          <a:prstGeom prst="rect">
            <a:avLst/>
          </a:prstGeom>
        </p:spPr>
      </p:pic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810714CC-E940-4FAE-9E5F-35AB2123D44B}"/>
              </a:ext>
            </a:extLst>
          </p:cNvPr>
          <p:cNvCxnSpPr>
            <a:cxnSpLocks/>
          </p:cNvCxnSpPr>
          <p:nvPr/>
        </p:nvCxnSpPr>
        <p:spPr>
          <a:xfrm>
            <a:off x="7418847" y="1433656"/>
            <a:ext cx="0" cy="3529072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22C1899-1FFC-41B0-9909-F1DC28F40D21}"/>
              </a:ext>
            </a:extLst>
          </p:cNvPr>
          <p:cNvGrpSpPr/>
          <p:nvPr/>
        </p:nvGrpSpPr>
        <p:grpSpPr>
          <a:xfrm>
            <a:off x="7610020" y="4764287"/>
            <a:ext cx="4220855" cy="1823919"/>
            <a:chOff x="952751" y="5169895"/>
            <a:chExt cx="3921022" cy="14394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: 圆角 26">
                  <a:extLst>
                    <a:ext uri="{FF2B5EF4-FFF2-40B4-BE49-F238E27FC236}">
                      <a16:creationId xmlns:a16="http://schemas.microsoft.com/office/drawing/2014/main" id="{CEDEE5A3-24E9-472E-8389-B303F1856504}"/>
                    </a:ext>
                  </a:extLst>
                </p:cNvPr>
                <p:cNvSpPr/>
                <p:nvPr/>
              </p:nvSpPr>
              <p:spPr>
                <a:xfrm>
                  <a:off x="952751" y="5326507"/>
                  <a:ext cx="3921022" cy="1282836"/>
                </a:xfrm>
                <a:prstGeom prst="roundRect">
                  <a:avLst/>
                </a:prstGeom>
                <a:noFill/>
                <a:ln w="285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360000" indent="-360000">
                    <a:lnSpc>
                      <a:spcPct val="120000"/>
                    </a:lnSpc>
                    <a:buFont typeface="Wingdings" panose="05000000000000000000" pitchFamily="2" charset="2"/>
                    <a:buChar char="ü"/>
                  </a:pPr>
                  <a:r>
                    <a:rPr lang="en-US" altLang="zh-CN" dirty="0">
                      <a:solidFill>
                        <a:schemeClr val="tx1"/>
                      </a:solidFill>
                    </a:rPr>
                    <a:t>The asymptotic stability of our bound enables a better characterization of generalization performance, especially in large </a:t>
                  </a:r>
                  <a14:m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r>
                    <a:rPr lang="en-US" altLang="zh-CN" dirty="0">
                      <a:solidFill>
                        <a:schemeClr val="tx1"/>
                      </a:solidFill>
                    </a:rPr>
                    <a:t> regime.</a:t>
                  </a:r>
                </a:p>
              </p:txBody>
            </p:sp>
          </mc:Choice>
          <mc:Fallback xmlns="">
            <p:sp>
              <p:nvSpPr>
                <p:cNvPr id="27" name="矩形: 圆角 26">
                  <a:extLst>
                    <a:ext uri="{FF2B5EF4-FFF2-40B4-BE49-F238E27FC236}">
                      <a16:creationId xmlns:a16="http://schemas.microsoft.com/office/drawing/2014/main" id="{CEDEE5A3-24E9-472E-8389-B303F185650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751" y="5326507"/>
                  <a:ext cx="3921022" cy="1282836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15C1212D-1097-4A81-BB57-4EEC45CA33D6}"/>
                </a:ext>
              </a:extLst>
            </p:cNvPr>
            <p:cNvSpPr/>
            <p:nvPr/>
          </p:nvSpPr>
          <p:spPr>
            <a:xfrm>
              <a:off x="2196187" y="5169895"/>
              <a:ext cx="1600833" cy="31322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Observation 4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D5F647EB-636B-4C0C-BD15-647AFD811633}"/>
              </a:ext>
            </a:extLst>
          </p:cNvPr>
          <p:cNvSpPr txBox="1"/>
          <p:nvPr/>
        </p:nvSpPr>
        <p:spPr>
          <a:xfrm>
            <a:off x="7610020" y="1510255"/>
            <a:ext cx="4000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44546A"/>
                </a:solidFill>
              </a:rPr>
              <a:t>Theoretical bounds for generalization</a:t>
            </a:r>
            <a:endParaRPr lang="zh-CN" altLang="en-US" b="1" dirty="0">
              <a:solidFill>
                <a:srgbClr val="4454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5298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5DE6C54-FD1E-4696-871B-32C788369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4406" y="522287"/>
            <a:ext cx="7723188" cy="92551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Outline</a:t>
            </a:r>
          </a:p>
        </p:txBody>
      </p:sp>
      <p:sp>
        <p:nvSpPr>
          <p:cNvPr id="7" name="Introduction…">
            <a:extLst>
              <a:ext uri="{FF2B5EF4-FFF2-40B4-BE49-F238E27FC236}">
                <a16:creationId xmlns:a16="http://schemas.microsoft.com/office/drawing/2014/main" id="{2DE8D281-7E89-4066-BCF6-A14571FF8F69}"/>
              </a:ext>
            </a:extLst>
          </p:cNvPr>
          <p:cNvSpPr txBox="1">
            <a:spLocks/>
          </p:cNvSpPr>
          <p:nvPr/>
        </p:nvSpPr>
        <p:spPr>
          <a:xfrm>
            <a:off x="930644" y="1751120"/>
            <a:ext cx="9442716" cy="472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990">
              <a:lnSpc>
                <a:spcPct val="150000"/>
              </a:lnSpc>
              <a:spcBef>
                <a:spcPts val="1100"/>
              </a:spcBef>
              <a:buFont typeface="Wingdings" panose="05000000000000000000" pitchFamily="2" charset="2"/>
              <a:buChar char="p"/>
              <a:defRPr sz="3230"/>
            </a:pPr>
            <a:r>
              <a:rPr lang="en-US" altLang="zh-CN" sz="3200" b="1" dirty="0">
                <a:latin typeface="Calibri" panose="020F0502020204030204" pitchFamily="34" charset="0"/>
                <a:cs typeface="Calibri" panose="020F0502020204030204" pitchFamily="34" charset="0"/>
              </a:rPr>
              <a:t>Background and Motivation</a:t>
            </a:r>
            <a:endParaRPr lang="en-US" altLang="zh-CN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554990">
              <a:lnSpc>
                <a:spcPct val="150000"/>
              </a:lnSpc>
              <a:spcBef>
                <a:spcPts val="1100"/>
              </a:spcBef>
              <a:buFont typeface="Wingdings" panose="05000000000000000000" pitchFamily="2" charset="2"/>
              <a:buChar char="p"/>
              <a:defRPr sz="3230"/>
            </a:pPr>
            <a:r>
              <a:rPr lang="en-US" altLang="zh-CN" sz="3200" b="1" dirty="0">
                <a:latin typeface="Calibri" panose="020F0502020204030204" pitchFamily="34" charset="0"/>
                <a:cs typeface="Calibri" panose="020F0502020204030204" pitchFamily="34" charset="0"/>
              </a:rPr>
              <a:t>System Model &amp; Problem Formulation</a:t>
            </a:r>
          </a:p>
          <a:p>
            <a:pPr defTabSz="554990">
              <a:lnSpc>
                <a:spcPct val="150000"/>
              </a:lnSpc>
              <a:spcBef>
                <a:spcPts val="1100"/>
              </a:spcBef>
              <a:buFont typeface="Wingdings" panose="05000000000000000000" pitchFamily="2" charset="2"/>
              <a:buChar char="p"/>
              <a:defRPr sz="3230"/>
            </a:pPr>
            <a:r>
              <a:rPr lang="en-US" altLang="zh-CN" sz="3200" b="1" dirty="0">
                <a:latin typeface="Calibri" panose="020F0502020204030204" pitchFamily="34" charset="0"/>
                <a:cs typeface="Calibri" panose="020F0502020204030204" pitchFamily="34" charset="0"/>
              </a:rPr>
              <a:t>Workflow of MAN</a:t>
            </a:r>
          </a:p>
          <a:p>
            <a:pPr defTabSz="554990">
              <a:lnSpc>
                <a:spcPct val="150000"/>
              </a:lnSpc>
              <a:spcBef>
                <a:spcPts val="1100"/>
              </a:spcBef>
              <a:buFont typeface="Wingdings" panose="05000000000000000000" pitchFamily="2" charset="2"/>
              <a:buChar char="p"/>
              <a:defRPr sz="3230"/>
            </a:pPr>
            <a:r>
              <a:rPr lang="en-US" altLang="zh-CN" sz="3200" b="1" dirty="0">
                <a:latin typeface="Calibri" panose="020F0502020204030204" pitchFamily="34" charset="0"/>
                <a:cs typeface="Calibri" panose="020F0502020204030204" pitchFamily="34" charset="0"/>
              </a:rPr>
              <a:t>Theoretical &amp; Experimental Results</a:t>
            </a:r>
          </a:p>
          <a:p>
            <a:pPr defTabSz="554990">
              <a:lnSpc>
                <a:spcPct val="150000"/>
              </a:lnSpc>
              <a:spcBef>
                <a:spcPts val="1100"/>
              </a:spcBef>
              <a:buFont typeface="Wingdings" panose="05000000000000000000" pitchFamily="2" charset="2"/>
              <a:buChar char="p"/>
              <a:defRPr sz="3230"/>
            </a:pPr>
            <a:r>
              <a:rPr lang="en-US" altLang="zh-CN" sz="3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636320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917"/>
    </mc:Choice>
    <mc:Fallback xmlns="">
      <p:transition spd="slow" advTm="14917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442977-DB24-40E5-883A-4D296B77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sz="3230"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等线 Light" panose="02010600030101010101" pitchFamily="2" charset="-122"/>
                <a:cs typeface="Calibri" panose="020F0502020204030204" pitchFamily="34" charset="0"/>
              </a:rPr>
              <a:t>Conclusions</a:t>
            </a:r>
            <a:endParaRPr lang="zh-CN" altLang="en-US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22AC99CD-CA0C-4DA1-878D-FB873B353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4300"/>
            <a:ext cx="10956533" cy="4792663"/>
          </a:xfrm>
        </p:spPr>
        <p:txBody>
          <a:bodyPr/>
          <a:lstStyle/>
          <a:p>
            <a:pPr marL="360000" indent="-3600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zh-CN" dirty="0"/>
              <a:t>Proposed a meta learning-based agentic AI networking (MAN) framework to efficiently balance generalization and personalization in multi-agent networks</a:t>
            </a:r>
          </a:p>
          <a:p>
            <a:pPr marL="360000" indent="-3600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zh-CN" dirty="0"/>
              <a:t>Derived asymptotic theoretical bounds on generalization and personalization errors respectively</a:t>
            </a:r>
          </a:p>
          <a:p>
            <a:pPr marL="360000" indent="-3600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zh-CN" dirty="0"/>
              <a:t>Conducted extensive measurements on real-world dataset to verify the theoretical results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5474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747F4A0E-697D-46F5-8C90-488923DAAD61}"/>
              </a:ext>
            </a:extLst>
          </p:cNvPr>
          <p:cNvSpPr txBox="1"/>
          <p:nvPr/>
        </p:nvSpPr>
        <p:spPr>
          <a:xfrm>
            <a:off x="4077117" y="2338880"/>
            <a:ext cx="40377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6000" b="1" dirty="0">
                <a:solidFill>
                  <a:srgbClr val="C00000"/>
                </a:solidFill>
              </a:rPr>
              <a:t>Thank You!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540F577-48AB-4AE8-9A13-99EFD13063B4}"/>
              </a:ext>
            </a:extLst>
          </p:cNvPr>
          <p:cNvSpPr txBox="1"/>
          <p:nvPr/>
        </p:nvSpPr>
        <p:spPr>
          <a:xfrm>
            <a:off x="3556310" y="3666460"/>
            <a:ext cx="50793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42900" indent="-342900">
              <a:buSzPct val="90000"/>
              <a:buFont typeface="Wingdings" panose="05000000000000000000" pitchFamily="2" charset="2"/>
              <a:buChar char="Ø"/>
              <a:defRPr sz="2000" b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indent="0" algn="ctr">
              <a:buNone/>
            </a:pPr>
            <a:r>
              <a:rPr lang="en-US" altLang="zh-CN" sz="2400" dirty="0">
                <a:solidFill>
                  <a:schemeClr val="accent1"/>
                </a:solidFill>
              </a:rPr>
              <a:t>For more information, please contact:</a:t>
            </a:r>
          </a:p>
          <a:p>
            <a:pPr marL="0" indent="0" algn="ctr">
              <a:buNone/>
            </a:pPr>
            <a:r>
              <a:rPr lang="en-US" altLang="zh-CN" sz="2400" dirty="0">
                <a:solidFill>
                  <a:schemeClr val="accent1"/>
                </a:solidFill>
              </a:rPr>
              <a:t>Xubo Li</a:t>
            </a:r>
          </a:p>
          <a:p>
            <a:pPr marL="0" indent="0" algn="ctr">
              <a:buNone/>
            </a:pPr>
            <a:r>
              <a:rPr lang="en-US" altLang="zh-CN" sz="2400" dirty="0">
                <a:solidFill>
                  <a:schemeClr val="accent1"/>
                </a:solidFill>
              </a:rPr>
              <a:t>(</a:t>
            </a:r>
            <a:r>
              <a:rPr lang="en-US" altLang="zh-CN" sz="2400" u="sng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xuboli@hust.edu.cn</a:t>
            </a:r>
            <a:r>
              <a:rPr lang="en-US" altLang="zh-CN" sz="2400" u="sng" dirty="0">
                <a:solidFill>
                  <a:schemeClr val="accent1"/>
                </a:solidFill>
              </a:rPr>
              <a:t>)</a:t>
            </a:r>
          </a:p>
          <a:p>
            <a:pPr marL="0" indent="0" algn="ctr">
              <a:buNone/>
            </a:pPr>
            <a:r>
              <a:rPr lang="en-US" altLang="zh-CN" sz="2400" u="sng" dirty="0">
                <a:solidFill>
                  <a:schemeClr val="accent1"/>
                </a:solidFill>
              </a:rPr>
              <a:t>Yong</a:t>
            </a:r>
            <a:r>
              <a:rPr lang="zh-CN" altLang="en-US" sz="2400" u="sng" dirty="0">
                <a:solidFill>
                  <a:schemeClr val="accent1"/>
                </a:solidFill>
              </a:rPr>
              <a:t> </a:t>
            </a:r>
            <a:r>
              <a:rPr lang="en-US" altLang="zh-CN" sz="2400" u="sng" dirty="0">
                <a:solidFill>
                  <a:schemeClr val="accent1"/>
                </a:solidFill>
              </a:rPr>
              <a:t>Xiao</a:t>
            </a:r>
          </a:p>
          <a:p>
            <a:pPr marL="0" indent="0" algn="ctr">
              <a:buNone/>
            </a:pPr>
            <a:r>
              <a:rPr lang="zh-CN" altLang="en-US" sz="2400" u="sng" dirty="0">
                <a:solidFill>
                  <a:schemeClr val="accent1"/>
                </a:solidFill>
              </a:rPr>
              <a:t>（</a:t>
            </a:r>
            <a:r>
              <a:rPr lang="en-US" altLang="zh-CN" sz="2400" u="sng" dirty="0">
                <a:solidFill>
                  <a:schemeClr val="accent1"/>
                </a:solidFill>
              </a:rPr>
              <a:t>yongxiao@hust.edu.cn</a:t>
            </a:r>
            <a:r>
              <a:rPr lang="zh-CN" altLang="en-US" sz="2400" u="sng" dirty="0">
                <a:solidFill>
                  <a:schemeClr val="accent1"/>
                </a:solidFill>
              </a:rPr>
              <a:t>）</a:t>
            </a:r>
            <a:endParaRPr lang="en-US" altLang="zh-CN" sz="2400" u="sng" dirty="0">
              <a:solidFill>
                <a:schemeClr val="accent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288535-4A11-45BF-85FB-11162CAC1804}"/>
              </a:ext>
            </a:extLst>
          </p:cNvPr>
          <p:cNvSpPr/>
          <p:nvPr/>
        </p:nvSpPr>
        <p:spPr>
          <a:xfrm>
            <a:off x="0" y="3331684"/>
            <a:ext cx="12192000" cy="45719"/>
          </a:xfrm>
          <a:prstGeom prst="rect">
            <a:avLst/>
          </a:prstGeom>
          <a:solidFill>
            <a:srgbClr val="C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161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12350</TotalTime>
  <Words>2549</Words>
  <Application>Microsoft Macintosh PowerPoint</Application>
  <PresentationFormat>宽屏</PresentationFormat>
  <Paragraphs>319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等线</vt:lpstr>
      <vt:lpstr>微软雅黑</vt:lpstr>
      <vt:lpstr>NimbusRomNo9L-Regu</vt:lpstr>
      <vt:lpstr>URWPalladioL-Roma</vt:lpstr>
      <vt:lpstr>Arial</vt:lpstr>
      <vt:lpstr>Calibri</vt:lpstr>
      <vt:lpstr>Calibri Light</vt:lpstr>
      <vt:lpstr>Cambria Math</vt:lpstr>
      <vt:lpstr>Times New Roman</vt:lpstr>
      <vt:lpstr>Wingdings</vt:lpstr>
      <vt:lpstr>Office 主题​​</vt:lpstr>
      <vt:lpstr>On the Generalization and Personalization Tradeoff in Agentic AI Networks</vt:lpstr>
      <vt:lpstr>Outline</vt:lpstr>
      <vt:lpstr>Background</vt:lpstr>
      <vt:lpstr>Motivation</vt:lpstr>
      <vt:lpstr>Key Contributions</vt:lpstr>
      <vt:lpstr>Outline</vt:lpstr>
      <vt:lpstr>System Model</vt:lpstr>
      <vt:lpstr>System Model</vt:lpstr>
      <vt:lpstr>Problem Formulation</vt:lpstr>
      <vt:lpstr>Problem Formulation</vt:lpstr>
      <vt:lpstr>Problem Formulation</vt:lpstr>
      <vt:lpstr>Outline</vt:lpstr>
      <vt:lpstr>Workflow of MAN</vt:lpstr>
      <vt:lpstr>Workflow of MAN</vt:lpstr>
      <vt:lpstr>Workflow of MAN</vt:lpstr>
      <vt:lpstr>Outline</vt:lpstr>
      <vt:lpstr>Theoretical Results</vt:lpstr>
      <vt:lpstr>Theoretical Results</vt:lpstr>
      <vt:lpstr>Experiment Setup</vt:lpstr>
      <vt:lpstr>Performance of MAN</vt:lpstr>
      <vt:lpstr>Verification of Theoretical Results</vt:lpstr>
      <vt:lpstr>Outline</vt:lpstr>
      <vt:lpstr>Conclusions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 xubo</dc:creator>
  <cp:lastModifiedBy>li xubo</cp:lastModifiedBy>
  <cp:revision>2645</cp:revision>
  <dcterms:created xsi:type="dcterms:W3CDTF">2024-06-08T01:18:40Z</dcterms:created>
  <dcterms:modified xsi:type="dcterms:W3CDTF">2025-12-11T06:24:38Z</dcterms:modified>
</cp:coreProperties>
</file>